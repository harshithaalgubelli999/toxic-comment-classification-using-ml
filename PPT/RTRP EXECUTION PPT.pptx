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28"/>
  </p:notesMasterIdLst>
  <p:sldIdLst>
    <p:sldId id="256" r:id="rId2"/>
    <p:sldId id="298" r:id="rId3"/>
    <p:sldId id="299" r:id="rId4"/>
    <p:sldId id="300" r:id="rId5"/>
    <p:sldId id="301" r:id="rId6"/>
    <p:sldId id="261" r:id="rId7"/>
    <p:sldId id="262" r:id="rId8"/>
    <p:sldId id="302" r:id="rId9"/>
    <p:sldId id="296" r:id="rId10"/>
    <p:sldId id="258" r:id="rId11"/>
    <p:sldId id="259" r:id="rId12"/>
    <p:sldId id="260" r:id="rId13"/>
    <p:sldId id="270" r:id="rId14"/>
    <p:sldId id="294" r:id="rId15"/>
    <p:sldId id="271" r:id="rId16"/>
    <p:sldId id="306" r:id="rId17"/>
    <p:sldId id="307" r:id="rId18"/>
    <p:sldId id="308" r:id="rId19"/>
    <p:sldId id="310" r:id="rId20"/>
    <p:sldId id="311" r:id="rId21"/>
    <p:sldId id="312" r:id="rId22"/>
    <p:sldId id="303" r:id="rId23"/>
    <p:sldId id="290" r:id="rId24"/>
    <p:sldId id="297" r:id="rId25"/>
    <p:sldId id="313" r:id="rId26"/>
    <p:sldId id="265" r:id="rId27"/>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1AFBF0-8519-4C0B-83E8-E19E4461FDB8}">
          <p14:sldIdLst>
            <p14:sldId id="256"/>
            <p14:sldId id="298"/>
            <p14:sldId id="299"/>
            <p14:sldId id="300"/>
            <p14:sldId id="301"/>
            <p14:sldId id="261"/>
            <p14:sldId id="262"/>
            <p14:sldId id="302"/>
            <p14:sldId id="296"/>
            <p14:sldId id="258"/>
            <p14:sldId id="259"/>
            <p14:sldId id="260"/>
            <p14:sldId id="270"/>
            <p14:sldId id="294"/>
            <p14:sldId id="271"/>
            <p14:sldId id="306"/>
            <p14:sldId id="307"/>
            <p14:sldId id="308"/>
            <p14:sldId id="310"/>
            <p14:sldId id="311"/>
            <p14:sldId id="312"/>
            <p14:sldId id="303"/>
            <p14:sldId id="290"/>
            <p14:sldId id="297"/>
            <p14:sldId id="313"/>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71" d="100"/>
          <a:sy n="71" d="100"/>
        </p:scale>
        <p:origin x="562" y="110"/>
      </p:cViewPr>
      <p:guideLst/>
    </p:cSldViewPr>
  </p:slideViewPr>
  <p:notesTextViewPr>
    <p:cViewPr>
      <p:scale>
        <a:sx n="1" d="1"/>
        <a:sy n="1" d="1"/>
      </p:scale>
      <p:origin x="0" y="0"/>
    </p:cViewPr>
  </p:notesTextViewPr>
  <p:sorterViewPr>
    <p:cViewPr>
      <p:scale>
        <a:sx n="100" d="100"/>
        <a:sy n="100" d="100"/>
      </p:scale>
      <p:origin x="0" y="-2261"/>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690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29080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54653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72880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7856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98AD5-2D89-D820-7326-3CBBEA38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842E0-9008-ECDB-B21A-B8350FF87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13731-7BDF-8E32-E444-62770D42AC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1804EB-387D-3400-CD92-EB4AF8F5B86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56932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DAB70-AEDD-083A-637C-E5E0DDD24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077DA-3522-7FBB-E81C-CEF16DFA2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699B0-F63B-C3ED-B3EF-8780024664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D9DAD1-00D5-0321-DA6A-BB6643037F7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85081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CC05C-822D-7AB5-5F7D-3E70915C3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91ED2-B174-7448-15B1-6CA9458B0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2983F-C6EC-B02B-4DBC-A7335A05E9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BD924-73C7-C086-5F68-F614F875F3F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52585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2C60A-BA60-0C01-E818-CE5E8776A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933F3-3400-7C40-E3DA-3AE02549D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C4A59-55F9-A592-C9CD-8C124E73C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F0D90D-D7F5-AAA6-6C61-87131306586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533868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50527-50FA-61B6-DCBC-0C1FC5684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1E6D1-8A75-8636-66CB-C6B025BA1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A94F8-E1A6-C1E0-556C-6CC0C772C0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7B77D8-CAA1-CF06-9285-2B4719E03568}"/>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493249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6010-83AF-90F1-8487-9B87684E9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26F2D-FCDF-F854-2827-4D6C01F49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8E71E-9EF1-5121-90B8-5525CFB6D2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B773A8-7F5D-BFF8-58F7-DA4FF449B15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04713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9418291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81D1E-2DA1-A919-BD6A-CEDDAAAE3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820E3-3F4E-31C2-D2CC-6E67A298A0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39A353-4E77-27C6-E551-31BDBC47CB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4ED0B5-2083-12FA-8C75-B722B959827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859145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5704539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45995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25495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96793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08476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992695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64253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38059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5264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065157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31069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45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61BEF0D-F0BB-DE4B-95CE-6DB70DBA9567}" type="datetimeFigureOut">
              <a:rPr lang="en-US" smtClean="0"/>
              <a:pPr/>
              <a:t>5/21/2025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3448305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brecw.ac.i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92621" cy="8231267"/>
          </a:xfrm>
          <a:prstGeom prst="rect">
            <a:avLst/>
          </a:prstGeom>
          <a:solidFill>
            <a:srgbClr val="F9F6F0"/>
          </a:solidFill>
          <a:ln/>
        </p:spPr>
        <p:txBody>
          <a:bodyPr/>
          <a:lstStyle/>
          <a:p>
            <a:pPr marL="0" marR="0" lvl="0" indent="0" algn="ctr" defTabSz="914400" rtl="0" eaLnBrk="1" fontAlgn="auto" latinLnBrk="0" hangingPunct="1">
              <a:lnSpc>
                <a:spcPct val="100000"/>
              </a:lnSpc>
              <a:spcBef>
                <a:spcPct val="0"/>
              </a:spcBef>
              <a:spcAft>
                <a:spcPts val="1000"/>
              </a:spcAft>
              <a:buClrTx/>
              <a:buSzPts val="1100"/>
              <a:buFontTx/>
              <a:buNone/>
              <a:tabLst>
                <a:tab pos="182880" algn="l"/>
                <a:tab pos="448056" algn="l"/>
              </a:tabLst>
              <a:defRPr/>
            </a:pPr>
            <a:r>
              <a:rPr kumimoji="0" lang="en-US" sz="4400" b="1" i="0"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Bhoj</a:t>
            </a:r>
            <a:r>
              <a:rPr kumimoji="0" lang="en-US" sz="44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Reddy Engineering College for Women</a:t>
            </a:r>
            <a:r>
              <a:rPr kumimoji="0" lang="en-US" sz="44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 </a:t>
            </a:r>
          </a:p>
          <a:p>
            <a:pPr marL="0" marR="0" lvl="0" indent="0" algn="ctr" defTabSz="914400" rtl="0" eaLnBrk="1" fontAlgn="auto" latinLnBrk="0" hangingPunct="1">
              <a:lnSpc>
                <a:spcPct val="100000"/>
              </a:lnSpc>
              <a:spcBef>
                <a:spcPct val="0"/>
              </a:spcBef>
              <a:spcAft>
                <a:spcPts val="1000"/>
              </a:spcAft>
              <a:buClrTx/>
              <a:buSzPts val="1100"/>
              <a:buFontTx/>
              <a:buNone/>
              <a:tabLst>
                <a:tab pos="182880" algn="l"/>
                <a:tab pos="448056" algn="l"/>
              </a:tabLst>
              <a:defRPr/>
            </a:pP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Sponsored by Sangam </a:t>
            </a:r>
            <a:r>
              <a:rPr kumimoji="0" lang="en-US" sz="15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Laxmibai</a:t>
            </a:r>
            <a:r>
              <a:rPr kumimoji="0" lang="en-US"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5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Vidyapeet</a:t>
            </a:r>
            <a:r>
              <a:rPr kumimoji="0" lang="en-US"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Accredited by NAAC with A Grade, </a:t>
            </a:r>
            <a:r>
              <a:rPr lang="en-US" sz="1500" b="1" dirty="0">
                <a:solidFill>
                  <a:prstClr val="black"/>
                </a:solidFill>
                <a:latin typeface="Arial" panose="020B0604020202020204" pitchFamily="34" charset="0"/>
                <a:cs typeface="Arial" panose="020B0604020202020204" pitchFamily="34" charset="0"/>
              </a:rPr>
              <a:t>A</a:t>
            </a:r>
            <a:r>
              <a:rPr kumimoji="0" lang="en-US" sz="15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pproved</a:t>
            </a:r>
            <a:r>
              <a:rPr kumimoji="0" lang="en-US"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by AICTE and affiliated to JNTUH</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b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Vinaynagar</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IS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Sadan</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Crossroads, Saidabad, Hyderabad – 500 059, Telangana. </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3"/>
              </a:rPr>
              <a:t>www.brecw.ac.in</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 2"/>
          <p:cNvSpPr/>
          <p:nvPr/>
        </p:nvSpPr>
        <p:spPr>
          <a:xfrm>
            <a:off x="815816" y="3543300"/>
            <a:ext cx="12823984" cy="1746052"/>
          </a:xfrm>
          <a:prstGeom prst="rect">
            <a:avLst/>
          </a:prstGeom>
          <a:noFill/>
          <a:ln/>
        </p:spPr>
        <p:txBody>
          <a:bodyPr wrap="square" rtlCol="0" anchor="t"/>
          <a:lstStyle/>
          <a:p>
            <a:pPr marL="0" indent="0">
              <a:lnSpc>
                <a:spcPts val="7388"/>
              </a:lnSpc>
              <a:buNone/>
            </a:pPr>
            <a:endParaRPr lang="en-US" sz="2400" dirty="0"/>
          </a:p>
        </p:txBody>
      </p:sp>
      <p:sp>
        <p:nvSpPr>
          <p:cNvPr id="6" name="Text 3"/>
          <p:cNvSpPr/>
          <p:nvPr/>
        </p:nvSpPr>
        <p:spPr>
          <a:xfrm>
            <a:off x="98323" y="4114801"/>
            <a:ext cx="14532077" cy="3971508"/>
          </a:xfrm>
          <a:prstGeom prst="rect">
            <a:avLst/>
          </a:prstGeom>
          <a:noFill/>
          <a:ln/>
        </p:spPr>
        <p:txBody>
          <a:bodyPr wrap="square" rtlCol="0" anchor="t"/>
          <a:lstStyle/>
          <a:p>
            <a:pPr marL="0" indent="0">
              <a:lnSpc>
                <a:spcPts val="2741"/>
              </a:lnSpc>
              <a:buNone/>
            </a:pPr>
            <a:endParaRPr lang="en-US" sz="1713" dirty="0"/>
          </a:p>
        </p:txBody>
      </p:sp>
      <p:sp>
        <p:nvSpPr>
          <p:cNvPr id="9" name="Text 6"/>
          <p:cNvSpPr/>
          <p:nvPr/>
        </p:nvSpPr>
        <p:spPr>
          <a:xfrm>
            <a:off x="1272540" y="7252335"/>
            <a:ext cx="3047048" cy="380643"/>
          </a:xfrm>
          <a:prstGeom prst="rect">
            <a:avLst/>
          </a:prstGeom>
          <a:noFill/>
          <a:ln/>
        </p:spPr>
        <p:txBody>
          <a:bodyPr wrap="none" rtlCol="0" anchor="t"/>
          <a:lstStyle/>
          <a:p>
            <a:pPr marL="0" indent="0" algn="l">
              <a:lnSpc>
                <a:spcPts val="2998"/>
              </a:lnSpc>
              <a:buNone/>
            </a:pPr>
            <a:endParaRPr lang="en-US" sz="2141" dirty="0"/>
          </a:p>
        </p:txBody>
      </p:sp>
      <p:pic>
        <p:nvPicPr>
          <p:cNvPr id="8" name="Picture 7" descr="logo">
            <a:extLst>
              <a:ext uri="{FF2B5EF4-FFF2-40B4-BE49-F238E27FC236}">
                <a16:creationId xmlns:a16="http://schemas.microsoft.com/office/drawing/2014/main" id="{9F053221-0209-403F-BACD-9368A1D39685}"/>
              </a:ext>
            </a:extLst>
          </p:cNvPr>
          <p:cNvPicPr/>
          <p:nvPr/>
        </p:nvPicPr>
        <p:blipFill rotWithShape="1">
          <a:blip r:embed="rId4">
            <a:extLst>
              <a:ext uri="{28A0092B-C50C-407E-A947-70E740481C1C}">
                <a14:useLocalDpi xmlns:a14="http://schemas.microsoft.com/office/drawing/2010/main" val="0"/>
              </a:ext>
            </a:extLst>
          </a:blip>
          <a:srcRect r="76085"/>
          <a:stretch>
            <a:fillRect/>
          </a:stretch>
        </p:blipFill>
        <p:spPr bwMode="auto">
          <a:xfrm>
            <a:off x="50706" y="204270"/>
            <a:ext cx="1221834" cy="1281629"/>
          </a:xfrm>
          <a:prstGeom prst="rect">
            <a:avLst/>
          </a:prstGeom>
          <a:noFill/>
          <a:ln>
            <a:noFill/>
          </a:ln>
        </p:spPr>
      </p:pic>
      <p:sp>
        <p:nvSpPr>
          <p:cNvPr id="7" name="TextBox 6">
            <a:extLst>
              <a:ext uri="{FF2B5EF4-FFF2-40B4-BE49-F238E27FC236}">
                <a16:creationId xmlns:a16="http://schemas.microsoft.com/office/drawing/2014/main" id="{95BE8BF2-089D-49E5-8171-D0D620B3613B}"/>
              </a:ext>
            </a:extLst>
          </p:cNvPr>
          <p:cNvSpPr txBox="1"/>
          <p:nvPr/>
        </p:nvSpPr>
        <p:spPr>
          <a:xfrm>
            <a:off x="1565852" y="1647825"/>
            <a:ext cx="13064547" cy="22056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Department of Computer Science and Engineering(AI&amp;ML</a:t>
            </a:r>
            <a:r>
              <a:rPr lang="en-US" sz="3000" b="1" dirty="0">
                <a:solidFill>
                  <a:prstClr val="black"/>
                </a:solidFill>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50000"/>
              </a:lnSpc>
              <a:spcBef>
                <a:spcPts val="0"/>
              </a:spcBef>
              <a:spcAft>
                <a:spcPts val="0"/>
              </a:spcAft>
              <a:buClrTx/>
              <a:buSzTx/>
              <a:buFontTx/>
              <a:buNone/>
              <a:tabLst/>
              <a:defRPr/>
            </a:pPr>
            <a:r>
              <a:rPr lang="en-US" sz="3000" dirty="0">
                <a:solidFill>
                  <a:prstClr val="black"/>
                </a:solidFill>
                <a:latin typeface="Arial" panose="020B0604020202020204" pitchFamily="34" charset="0"/>
                <a:cs typeface="Arial" panose="020B0604020202020204" pitchFamily="34" charset="0"/>
              </a:rPr>
              <a:t>Real-time Research </a:t>
            </a:r>
            <a:r>
              <a:rPr kumimoji="0" lang="en-US" sz="3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Project Design Seminar on</a:t>
            </a:r>
            <a:r>
              <a:rPr kumimoji="0" lang="en-US" sz="3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1" dirty="0">
                <a:solidFill>
                  <a:schemeClr val="tx1">
                    <a:lumMod val="95000"/>
                    <a:lumOff val="5000"/>
                  </a:schemeClr>
                </a:solidFill>
                <a:latin typeface="Arial" panose="020B0604020202020204" pitchFamily="34" charset="0"/>
                <a:cs typeface="Arial" panose="020B0604020202020204" pitchFamily="34" charset="0"/>
              </a:rPr>
              <a:t>Toxic Comment Classification</a:t>
            </a:r>
            <a:r>
              <a:rPr kumimoji="0" lang="en-US" sz="3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sz="30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p>
        </p:txBody>
      </p:sp>
      <p:sp>
        <p:nvSpPr>
          <p:cNvPr id="10" name="TextBox 9">
            <a:extLst>
              <a:ext uri="{FF2B5EF4-FFF2-40B4-BE49-F238E27FC236}">
                <a16:creationId xmlns:a16="http://schemas.microsoft.com/office/drawing/2014/main" id="{D28FE088-5283-41AF-BF6F-387D498ECA8C}"/>
              </a:ext>
            </a:extLst>
          </p:cNvPr>
          <p:cNvSpPr txBox="1"/>
          <p:nvPr/>
        </p:nvSpPr>
        <p:spPr>
          <a:xfrm>
            <a:off x="257176" y="4114800"/>
            <a:ext cx="14154150" cy="4106894"/>
          </a:xfrm>
          <a:prstGeom prst="rect">
            <a:avLst/>
          </a:prstGeom>
          <a:noFill/>
        </p:spPr>
        <p:txBody>
          <a:bodyPr wrap="square" rtlCol="0">
            <a:spAutoFit/>
          </a:bodyPr>
          <a:lstStyle/>
          <a:p>
            <a:pPr>
              <a:lnSpc>
                <a:spcPct val="107000"/>
              </a:lnSpc>
              <a:spcAft>
                <a:spcPts val="800"/>
              </a:spcAft>
            </a:pPr>
            <a:r>
              <a:rPr lang="en-US" sz="2200" b="1" dirty="0">
                <a:latin typeface="Times New Roman" panose="02020603050405020304" pitchFamily="18" charset="0"/>
                <a:ea typeface="Calibri" panose="020F0502020204030204" pitchFamily="34" charset="0"/>
                <a:cs typeface="Times New Roman" panose="02020603050405020304" pitchFamily="18" charset="0"/>
              </a:rPr>
              <a:t>RTP Coordinator</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 Syeda Fatima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2100" dirty="0">
                <a:effectLst/>
                <a:latin typeface="Calibri" panose="020F0502020204030204" pitchFamily="34" charset="0"/>
                <a:ea typeface="Calibri" panose="020F0502020204030204" pitchFamily="34" charset="0"/>
                <a:cs typeface="Times New Roman" panose="02020603050405020304" pitchFamily="18" charset="0"/>
              </a:rPr>
              <a:t>                                                              </a:t>
            </a:r>
            <a:r>
              <a:rPr lang="en-US" sz="2100" b="1" dirty="0">
                <a:effectLst/>
                <a:latin typeface="Times New Roman" panose="02020603050405020304" pitchFamily="18" charset="0"/>
                <a:ea typeface="Calibri" panose="020F0502020204030204" pitchFamily="34" charset="0"/>
                <a:cs typeface="Times New Roman" panose="02020603050405020304" pitchFamily="18" charset="0"/>
              </a:rPr>
              <a:t>Date :24</a:t>
            </a:r>
            <a:r>
              <a:rPr lang="en-US" sz="2100" b="1"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100" b="1" dirty="0">
                <a:latin typeface="Times New Roman" panose="02020603050405020304" pitchFamily="18" charset="0"/>
                <a:ea typeface="Calibri" panose="020F0502020204030204" pitchFamily="34" charset="0"/>
                <a:cs typeface="Times New Roman" panose="02020603050405020304" pitchFamily="18" charset="0"/>
              </a:rPr>
              <a:t> </a:t>
            </a:r>
            <a:r>
              <a:rPr lang="en-US" sz="2100" dirty="0">
                <a:latin typeface="Times New Roman" panose="02020603050405020304" pitchFamily="18" charset="0"/>
                <a:ea typeface="Calibri" panose="020F0502020204030204" pitchFamily="34" charset="0"/>
                <a:cs typeface="Times New Roman" panose="02020603050405020304" pitchFamily="18" charset="0"/>
              </a:rPr>
              <a:t>April </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2025</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Assistant Professor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2100" dirty="0">
                <a:effectLst/>
                <a:latin typeface="Calibri" panose="020F0502020204030204" pitchFamily="34" charset="0"/>
                <a:ea typeface="Calibri" panose="020F0502020204030204" pitchFamily="34" charset="0"/>
                <a:cs typeface="Times New Roman" panose="02020603050405020304" pitchFamily="18" charset="0"/>
              </a:rPr>
              <a:t>                                                              </a:t>
            </a:r>
            <a:r>
              <a:rPr lang="en-US" sz="2100" b="1" dirty="0">
                <a:effectLst/>
                <a:latin typeface="Times New Roman" panose="02020603050405020304" pitchFamily="18" charset="0"/>
                <a:ea typeface="Calibri" panose="020F0502020204030204" pitchFamily="34" charset="0"/>
                <a:cs typeface="Times New Roman" panose="02020603050405020304" pitchFamily="18" charset="0"/>
              </a:rPr>
              <a:t>Batch No :23RTP04</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buNone/>
            </a:pPr>
            <a:r>
              <a:rPr lang="en-US" sz="21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a:t>
            </a:r>
            <a:r>
              <a:rPr lang="en-US" sz="2000" dirty="0" err="1">
                <a:latin typeface="Times New Roman" panose="02020603050405020304" pitchFamily="18" charset="0"/>
                <a:cs typeface="Times New Roman" panose="02020603050405020304" pitchFamily="18" charset="0"/>
              </a:rPr>
              <a:t>R.Manasa</a:t>
            </a:r>
            <a:r>
              <a:rPr lang="en-US" sz="2000" dirty="0">
                <a:latin typeface="Times New Roman" panose="02020603050405020304" pitchFamily="18" charset="0"/>
                <a:cs typeface="Times New Roman" panose="02020603050405020304" pitchFamily="18" charset="0"/>
              </a:rPr>
              <a:t>         23321A6633</a:t>
            </a:r>
            <a:endParaRPr lang="en-US" sz="2000" b="1" dirty="0">
              <a:latin typeface="Times New Roman" panose="02020603050405020304" pitchFamily="18" charset="0"/>
              <a:cs typeface="Times New Roman" panose="02020603050405020304" pitchFamily="18" charset="0"/>
            </a:endParaRPr>
          </a:p>
          <a:p>
            <a:pPr marL="0" indent="0" algn="just">
              <a:lnSpc>
                <a:spcPct val="120000"/>
              </a:lnSpc>
              <a:buNone/>
            </a:pPr>
            <a:r>
              <a:rPr lang="en-US" sz="1800" b="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B.Akshitha</a:t>
            </a:r>
            <a:r>
              <a:rPr lang="en-US" sz="2000" dirty="0">
                <a:latin typeface="Times New Roman" panose="02020603050405020304" pitchFamily="18" charset="0"/>
                <a:cs typeface="Times New Roman" panose="02020603050405020304" pitchFamily="18" charset="0"/>
              </a:rPr>
              <a:t>        23321A6602</a:t>
            </a:r>
          </a:p>
          <a:p>
            <a:pPr algn="just">
              <a:lnSpc>
                <a:spcPct val="120000"/>
              </a:lnSpc>
            </a:pPr>
            <a:r>
              <a:rPr lang="en-US" b="1" dirty="0">
                <a:latin typeface="Arial" panose="020B0604020202020204" pitchFamily="34" charset="0"/>
                <a:cs typeface="Arial" panose="020B0604020202020204" pitchFamily="34" charset="0"/>
              </a:rPr>
              <a:t>		                                                                                                                             </a:t>
            </a:r>
            <a:r>
              <a:rPr lang="en-US" sz="2000" dirty="0" err="1">
                <a:latin typeface="Times New Roman" panose="02020603050405020304" pitchFamily="18" charset="0"/>
                <a:cs typeface="Times New Roman" panose="02020603050405020304" pitchFamily="18" charset="0"/>
              </a:rPr>
              <a:t>A.Harshitha</a:t>
            </a:r>
            <a:r>
              <a:rPr lang="en-US" sz="2000" dirty="0">
                <a:latin typeface="Times New Roman" panose="02020603050405020304" pitchFamily="18" charset="0"/>
                <a:cs typeface="Times New Roman" panose="02020603050405020304" pitchFamily="18" charset="0"/>
              </a:rPr>
              <a:t>      23321A6613</a:t>
            </a:r>
          </a:p>
          <a:p>
            <a:pPr algn="just">
              <a:lnSpc>
                <a:spcPct val="120000"/>
              </a:lnSpc>
            </a:pPr>
            <a:endParaRPr lang="en-US" sz="2000" dirty="0">
              <a:latin typeface="Times New Roman" panose="02020603050405020304" pitchFamily="18" charset="0"/>
              <a:cs typeface="Times New Roman" panose="02020603050405020304" pitchFamily="18" charset="0"/>
            </a:endParaRPr>
          </a:p>
          <a:p>
            <a:pPr marL="457200" indent="-457200" algn="just">
              <a:buNone/>
            </a:pPr>
            <a:endParaRPr lang="en-US" b="1" dirty="0">
              <a:latin typeface="Arial" panose="020B0604020202020204" pitchFamily="34" charset="0"/>
              <a:cs typeface="Arial" panose="020B0604020202020204" pitchFamily="34" charset="0"/>
            </a:endParaRPr>
          </a:p>
          <a:p>
            <a:pPr marL="457200" indent="-457200" algn="just">
              <a:buNone/>
            </a:pPr>
            <a:r>
              <a:rPr lang="en-US" sz="2400" b="1" dirty="0">
                <a:latin typeface="Times New Roman" panose="02020603050405020304" pitchFamily="18" charset="0"/>
                <a:cs typeface="Times New Roman" panose="02020603050405020304" pitchFamily="18" charset="0"/>
              </a:rPr>
              <a:t>Dr M </a:t>
            </a:r>
            <a:r>
              <a:rPr lang="en-US" sz="2400" b="1" dirty="0" err="1">
                <a:latin typeface="Times New Roman" panose="02020603050405020304" pitchFamily="18" charset="0"/>
                <a:cs typeface="Times New Roman" panose="02020603050405020304" pitchFamily="18" charset="0"/>
              </a:rPr>
              <a:t>Seshu</a:t>
            </a:r>
            <a:r>
              <a:rPr lang="en-US" sz="2400" b="1" dirty="0">
                <a:latin typeface="Times New Roman" panose="02020603050405020304" pitchFamily="18" charset="0"/>
                <a:cs typeface="Times New Roman" panose="02020603050405020304" pitchFamily="18" charset="0"/>
              </a:rPr>
              <a:t> Bhavani</a:t>
            </a:r>
            <a:r>
              <a:rPr lang="en-US" sz="1800" b="1" dirty="0">
                <a:latin typeface="Arial" panose="020B0604020202020204" pitchFamily="34" charset="0"/>
                <a:cs typeface="Arial" panose="020B0604020202020204" pitchFamily="34" charset="0"/>
              </a:rPr>
              <a:t>		                  		</a:t>
            </a:r>
            <a:r>
              <a:rPr lang="en-US" sz="1800" b="1" dirty="0">
                <a:latin typeface="Times New Roman" panose="02020603050405020304" pitchFamily="18" charset="0"/>
                <a:cs typeface="Times New Roman" panose="02020603050405020304" pitchFamily="18" charset="0"/>
              </a:rPr>
              <a:t>                                                                    </a:t>
            </a:r>
            <a:r>
              <a:rPr lang="en-IN" altLang="en-US" sz="2400" b="1" dirty="0">
                <a:latin typeface="Times New Roman" panose="02020603050405020304" pitchFamily="18" charset="0"/>
                <a:cs typeface="Times New Roman" panose="02020603050405020304" pitchFamily="18" charset="0"/>
              </a:rPr>
              <a:t>Dr</a:t>
            </a:r>
            <a:r>
              <a:rPr lang="en-US" sz="2400" b="1" dirty="0">
                <a:latin typeface="Times New Roman" panose="02020603050405020304" pitchFamily="18" charset="0"/>
                <a:cs typeface="Times New Roman" panose="02020603050405020304" pitchFamily="18" charset="0"/>
              </a:rPr>
              <a:t> J Madhavan</a:t>
            </a:r>
          </a:p>
          <a:p>
            <a:pPr marL="457200" indent="-457200" algn="just">
              <a:buNone/>
            </a:pPr>
            <a:r>
              <a:rPr lang="en-US" sz="1800" dirty="0">
                <a:latin typeface="Arial" panose="020B0604020202020204" pitchFamily="34" charset="0"/>
                <a:cs typeface="Arial" panose="020B0604020202020204" pitchFamily="34" charset="0"/>
              </a:rPr>
              <a:t> </a:t>
            </a:r>
            <a:r>
              <a:rPr lang="en-IN" altLang="en-US" sz="1800" dirty="0">
                <a:latin typeface="Arial" panose="020B0604020202020204" pitchFamily="34" charset="0"/>
                <a:cs typeface="Arial" panose="020B0604020202020204" pitchFamily="34" charset="0"/>
              </a:rPr>
              <a:t>                   </a:t>
            </a:r>
            <a:r>
              <a:rPr lang="en-IN" altLang="en-US" sz="1800" dirty="0">
                <a:latin typeface="Times New Roman" panose="02020603050405020304" pitchFamily="18" charset="0"/>
                <a:cs typeface="Times New Roman" panose="02020603050405020304" pitchFamily="18" charset="0"/>
              </a:rPr>
              <a:t>Associate </a:t>
            </a:r>
            <a:r>
              <a:rPr lang="en-US" sz="1800" dirty="0">
                <a:latin typeface="Times New Roman" panose="02020603050405020304" pitchFamily="18" charset="0"/>
                <a:cs typeface="Times New Roman" panose="02020603050405020304" pitchFamily="18" charset="0"/>
              </a:rPr>
              <a:t>Professor &amp; HOD</a:t>
            </a:r>
            <a:r>
              <a:rPr lang="en-US" sz="1800" dirty="0">
                <a:latin typeface="Arial" panose="020B0604020202020204" pitchFamily="34" charset="0"/>
                <a:cs typeface="Arial" panose="020B0604020202020204" pitchFamily="34" charset="0"/>
              </a:rPr>
              <a:t>                               		                                              </a:t>
            </a:r>
            <a:r>
              <a:rPr lang="en-US" sz="1800" dirty="0">
                <a:latin typeface="Times New Roman" panose="02020603050405020304" pitchFamily="18" charset="0"/>
                <a:cs typeface="Times New Roman" panose="02020603050405020304" pitchFamily="18" charset="0"/>
              </a:rPr>
              <a:t>Professor &amp; Principal</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424E7E0-C492-45AC-B14F-10066B9A0A06}"/>
              </a:ext>
            </a:extLst>
          </p:cNvPr>
          <p:cNvPicPr>
            <a:picLocks noChangeAspect="1"/>
          </p:cNvPicPr>
          <p:nvPr/>
        </p:nvPicPr>
        <p:blipFill rotWithShape="1">
          <a:blip r:embed="rId5"/>
          <a:srcRect l="54767" t="10246" r="30507" b="24188"/>
          <a:stretch/>
        </p:blipFill>
        <p:spPr>
          <a:xfrm>
            <a:off x="12826620" y="204270"/>
            <a:ext cx="1886574" cy="14598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93022"/>
            <a:ext cx="14630400" cy="8322621"/>
          </a:xfrm>
          <a:prstGeom prst="rect">
            <a:avLst/>
          </a:prstGeom>
          <a:solidFill>
            <a:srgbClr val="F9F6F0"/>
          </a:solidFill>
        </p:spPr>
      </p:sp>
      <p:sp>
        <p:nvSpPr>
          <p:cNvPr id="5" name="Text 2"/>
          <p:cNvSpPr/>
          <p:nvPr/>
        </p:nvSpPr>
        <p:spPr>
          <a:xfrm>
            <a:off x="748060" y="913921"/>
            <a:ext cx="12006647" cy="1181099"/>
          </a:xfrm>
          <a:prstGeom prst="rect">
            <a:avLst/>
          </a:prstGeom>
          <a:noFill/>
        </p:spPr>
        <p:txBody>
          <a:bodyPr wrap="none" rtlCol="0" anchor="t"/>
          <a:lstStyle/>
          <a:p>
            <a:pPr algn="just">
              <a:lnSpc>
                <a:spcPct val="150000"/>
              </a:lnSpc>
            </a:pPr>
            <a:r>
              <a:rPr lang="en-US" sz="4400" b="1" dirty="0">
                <a:effectLst/>
                <a:latin typeface="Arial" panose="020B0604020202020204" pitchFamily="34" charset="0"/>
                <a:ea typeface="Calibri" panose="020F0502020204030204" pitchFamily="34" charset="0"/>
                <a:cs typeface="Arial" panose="020B0604020202020204" pitchFamily="34" charset="0"/>
              </a:rPr>
              <a:t>INTRODUCTION TO TOXIC COMMENTS</a:t>
            </a:r>
          </a:p>
          <a:p>
            <a:pPr marL="0" indent="0">
              <a:lnSpc>
                <a:spcPts val="7545"/>
              </a:lnSpc>
              <a:buNone/>
            </a:pPr>
            <a:endParaRPr lang="en-US" sz="5800" dirty="0">
              <a:latin typeface="Arial" panose="020B0604020202020204" pitchFamily="34" charset="0"/>
              <a:cs typeface="Arial" panose="020B0604020202020204" pitchFamily="34" charset="0"/>
            </a:endParaRPr>
          </a:p>
        </p:txBody>
      </p:sp>
      <p:sp>
        <p:nvSpPr>
          <p:cNvPr id="6" name="Text 3"/>
          <p:cNvSpPr/>
          <p:nvPr/>
        </p:nvSpPr>
        <p:spPr>
          <a:xfrm>
            <a:off x="748060" y="2472744"/>
            <a:ext cx="13341427" cy="5513029"/>
          </a:xfrm>
          <a:prstGeom prst="rect">
            <a:avLst/>
          </a:prstGeom>
          <a:noFill/>
        </p:spPr>
        <p:txBody>
          <a:bodyPr wrap="square" rtlCol="0" anchor="t"/>
          <a:lstStyle/>
          <a:p>
            <a:pPr algn="just">
              <a:lnSpc>
                <a:spcPct val="150000"/>
              </a:lnSpc>
            </a:pPr>
            <a:r>
              <a:rPr lang="en-US" sz="2400" dirty="0">
                <a:effectLst/>
                <a:latin typeface="Arial" panose="020B0604020202020204" pitchFamily="34" charset="0"/>
                <a:ea typeface="Calibri" panose="020F0502020204030204" pitchFamily="34" charset="0"/>
                <a:cs typeface="Arial" panose="020B0604020202020204" pitchFamily="34" charset="0"/>
              </a:rPr>
              <a:t>In today's digital age, toxic comments can significantly impa</a:t>
            </a:r>
            <a:r>
              <a:rPr lang="en-US" sz="2400" dirty="0">
                <a:latin typeface="Arial" panose="020B0604020202020204" pitchFamily="34" charset="0"/>
                <a:ea typeface="Calibri" panose="020F0502020204030204" pitchFamily="34" charset="0"/>
                <a:cs typeface="Arial" panose="020B0604020202020204" pitchFamily="34" charset="0"/>
              </a:rPr>
              <a:t>ct </a:t>
            </a:r>
            <a:r>
              <a:rPr lang="en-US" sz="2400" dirty="0">
                <a:effectLst/>
                <a:latin typeface="Arial" panose="020B0604020202020204" pitchFamily="34" charset="0"/>
                <a:ea typeface="Calibri" panose="020F0502020204030204" pitchFamily="34" charset="0"/>
                <a:cs typeface="Arial" panose="020B0604020202020204" pitchFamily="34" charset="0"/>
              </a:rPr>
              <a:t>online interactions. Understanding and classifying these comments is crucial for fostering a healthier environment. This presentation will</a:t>
            </a:r>
            <a:r>
              <a:rPr lang="en-US" sz="2400" dirty="0">
                <a:latin typeface="Arial" panose="020B0604020202020204" pitchFamily="34" charset="0"/>
                <a:ea typeface="Calibri" panose="020F0502020204030204" pitchFamily="34" charset="0"/>
                <a:cs typeface="Arial" panose="020B0604020202020204" pitchFamily="34" charset="0"/>
              </a:rPr>
              <a:t> </a:t>
            </a:r>
            <a:r>
              <a:rPr lang="en-US" sz="2400" dirty="0">
                <a:effectLst/>
                <a:latin typeface="Arial" panose="020B0604020202020204" pitchFamily="34" charset="0"/>
                <a:ea typeface="Calibri" panose="020F0502020204030204" pitchFamily="34" charset="0"/>
                <a:cs typeface="Arial" panose="020B0604020202020204" pitchFamily="34" charset="0"/>
              </a:rPr>
              <a:t>explore a comprehensive approach to decoding negativity and enhancing online communication.</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361950" y="-333375"/>
            <a:ext cx="14992350" cy="8562975"/>
          </a:xfrm>
          <a:prstGeom prst="rect">
            <a:avLst/>
          </a:prstGeom>
          <a:solidFill>
            <a:srgbClr val="F9F6F0"/>
          </a:solidFill>
        </p:spPr>
      </p:sp>
      <p:sp>
        <p:nvSpPr>
          <p:cNvPr id="5" name="Text 2"/>
          <p:cNvSpPr/>
          <p:nvPr/>
        </p:nvSpPr>
        <p:spPr>
          <a:xfrm>
            <a:off x="564704" y="608074"/>
            <a:ext cx="7377351" cy="971551"/>
          </a:xfrm>
          <a:prstGeom prst="rect">
            <a:avLst/>
          </a:prstGeom>
          <a:noFill/>
        </p:spPr>
        <p:txBody>
          <a:bodyPr wrap="none" rtlCol="0" anchor="t"/>
          <a:lstStyle/>
          <a:p>
            <a:pPr marL="0" indent="0">
              <a:lnSpc>
                <a:spcPts val="7545"/>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SCOPE</a:t>
            </a:r>
            <a:endParaRPr lang="en-US" sz="4400" dirty="0">
              <a:latin typeface="Arial" panose="020B0604020202020204" pitchFamily="34" charset="0"/>
              <a:cs typeface="Arial" panose="020B0604020202020204" pitchFamily="34" charset="0"/>
            </a:endParaRPr>
          </a:p>
        </p:txBody>
      </p:sp>
      <p:sp>
        <p:nvSpPr>
          <p:cNvPr id="6" name="Text 3"/>
          <p:cNvSpPr/>
          <p:nvPr/>
        </p:nvSpPr>
        <p:spPr>
          <a:xfrm>
            <a:off x="833199" y="1390651"/>
            <a:ext cx="7477601" cy="6838950"/>
          </a:xfrm>
          <a:prstGeom prst="rect">
            <a:avLst/>
          </a:prstGeom>
          <a:noFill/>
        </p:spPr>
        <p:txBody>
          <a:bodyPr wrap="square" rtlCol="0" anchor="t"/>
          <a:lstStyle/>
          <a:p>
            <a:pPr>
              <a:lnSpc>
                <a:spcPts val="2800"/>
              </a:lnSpc>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ts val="2800"/>
              </a:lnSpc>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ts val="2800"/>
              </a:lnSpc>
              <a:buFont typeface="Arial" panose="020B0604020202020204" pitchFamily="34" charset="0"/>
              <a:buChar char="•"/>
            </a:pPr>
            <a:endParaRPr lang="en-US" sz="1750" dirty="0"/>
          </a:p>
        </p:txBody>
      </p:sp>
      <p:pic>
        <p:nvPicPr>
          <p:cNvPr id="9" name="Picture 2" descr="Smiling indian latin deaf disabled child school girl learning online class on laptop communicating with teacher by video conference call using sign language showing hand gesture during virtual lesson. Deafness Stock Pho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5949" y="575742"/>
            <a:ext cx="4762500" cy="6838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61951" y="2169555"/>
            <a:ext cx="8515349" cy="2793842"/>
          </a:xfrm>
          <a:prstGeom prst="rect">
            <a:avLst/>
          </a:prstGeom>
          <a:noFill/>
        </p:spPr>
        <p:txBody>
          <a:bodyPr wrap="square" rtlCol="0">
            <a:spAutoFit/>
          </a:bodyPr>
          <a:lstStyle/>
          <a:p>
            <a:pPr lvl="0" algn="just">
              <a:lnSpc>
                <a:spcPct val="150000"/>
              </a:lnSpc>
              <a:spcAft>
                <a:spcPts val="1000"/>
              </a:spcAft>
            </a:pPr>
            <a:r>
              <a:rPr lang="en-US" sz="2400" dirty="0">
                <a:latin typeface="Arial" panose="020B0604020202020204" pitchFamily="34" charset="0"/>
                <a:cs typeface="Arial" panose="020B0604020202020204" pitchFamily="34" charset="0"/>
              </a:rPr>
              <a:t>The project leverages NLTK and TEXTBLOB for text pre processing , sentiment analysis and feature extraction to detect toxic online comments . It provides a light weight , rule based approach to classify harmful content, supporting further development of advanced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30" y="0"/>
            <a:ext cx="14630340" cy="8229600"/>
          </a:xfrm>
          <a:prstGeom prst="rect">
            <a:avLst/>
          </a:prstGeom>
          <a:solidFill>
            <a:srgbClr val="F9F6F0"/>
          </a:solidFill>
        </p:spPr>
        <p:txBody>
          <a:bodyPr/>
          <a:lstStyle/>
          <a:p>
            <a:pPr marL="0" indent="0">
              <a:lnSpc>
                <a:spcPts val="5470"/>
              </a:lnSpc>
              <a:buNone/>
            </a:pPr>
            <a:endParaRPr lang="en-US" sz="1800" b="1" dirty="0">
              <a:solidFill>
                <a:srgbClr val="484237"/>
              </a:solidFill>
              <a:latin typeface="Gelasio" pitchFamily="34" charset="0"/>
              <a:ea typeface="Gelasio" pitchFamily="34" charset="-122"/>
              <a:cs typeface="Gelasio" pitchFamily="34" charset="-120"/>
            </a:endParaRPr>
          </a:p>
        </p:txBody>
      </p:sp>
      <p:sp>
        <p:nvSpPr>
          <p:cNvPr id="4" name="Text 2"/>
          <p:cNvSpPr/>
          <p:nvPr/>
        </p:nvSpPr>
        <p:spPr>
          <a:xfrm>
            <a:off x="702855" y="481016"/>
            <a:ext cx="9456420" cy="741550"/>
          </a:xfrm>
          <a:prstGeom prst="rect">
            <a:avLst/>
          </a:prstGeom>
          <a:noFill/>
        </p:spPr>
        <p:txBody>
          <a:bodyPr wrap="none" rtlCol="0" anchor="t"/>
          <a:lstStyle/>
          <a:p>
            <a:pPr marL="0" indent="0">
              <a:lnSpc>
                <a:spcPts val="5470"/>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EXISTING SYSTEM</a:t>
            </a:r>
          </a:p>
          <a:p>
            <a:pPr marL="0" indent="0">
              <a:lnSpc>
                <a:spcPts val="5470"/>
              </a:lnSpc>
              <a:buNone/>
            </a:pPr>
            <a:endParaRPr lang="en-US" sz="4375" dirty="0"/>
          </a:p>
        </p:txBody>
      </p:sp>
      <p:sp>
        <p:nvSpPr>
          <p:cNvPr id="6" name="Text 3"/>
          <p:cNvSpPr/>
          <p:nvPr/>
        </p:nvSpPr>
        <p:spPr>
          <a:xfrm>
            <a:off x="2037993" y="5372101"/>
            <a:ext cx="2777490" cy="400048"/>
          </a:xfrm>
          <a:prstGeom prst="rect">
            <a:avLst/>
          </a:prstGeom>
          <a:noFill/>
        </p:spPr>
        <p:txBody>
          <a:bodyPr wrap="none" rtlCol="0" anchor="t"/>
          <a:lstStyle/>
          <a:p>
            <a:pPr marL="0" indent="0" algn="l">
              <a:lnSpc>
                <a:spcPts val="2735"/>
              </a:lnSpc>
              <a:buNone/>
            </a:pPr>
            <a:endParaRPr lang="en-US" sz="2185" dirty="0">
              <a:latin typeface="Times New Roman" panose="02020603050405020304" pitchFamily="18" charset="0"/>
              <a:cs typeface="Times New Roman" panose="02020603050405020304" pitchFamily="18" charset="0"/>
            </a:endParaRPr>
          </a:p>
        </p:txBody>
      </p:sp>
      <p:sp>
        <p:nvSpPr>
          <p:cNvPr id="7" name="Text 4"/>
          <p:cNvSpPr/>
          <p:nvPr/>
        </p:nvSpPr>
        <p:spPr>
          <a:xfrm>
            <a:off x="702855" y="4958385"/>
            <a:ext cx="11689158" cy="3422381"/>
          </a:xfrm>
          <a:prstGeom prst="rect">
            <a:avLst/>
          </a:prstGeom>
          <a:noFill/>
        </p:spPr>
        <p:txBody>
          <a:bodyPr wrap="square" rtlCol="0" anchor="t"/>
          <a:lstStyle/>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Needs People to Check Comments: </a:t>
            </a:r>
            <a:r>
              <a:rPr lang="en-US" sz="2400" dirty="0">
                <a:latin typeface="Arial" panose="020B0604020202020204" pitchFamily="34" charset="0"/>
                <a:cs typeface="Arial" panose="020B0604020202020204" pitchFamily="34" charset="0"/>
              </a:rPr>
              <a:t>This takes a lot of time and effort.</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Slow to Find Bad Comments</a:t>
            </a:r>
            <a:r>
              <a:rPr lang="en-US" sz="2400" dirty="0">
                <a:latin typeface="Arial" panose="020B0604020202020204" pitchFamily="34" charset="0"/>
                <a:cs typeface="Arial" panose="020B0604020202020204" pitchFamily="34" charset="0"/>
              </a:rPr>
              <a:t>: Detects Harmful comments very slowly .</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Doesn’t Understand Context: </a:t>
            </a:r>
            <a:r>
              <a:rPr lang="en-US" sz="2400" dirty="0">
                <a:latin typeface="Arial" panose="020B0604020202020204" pitchFamily="34" charset="0"/>
                <a:cs typeface="Arial" panose="020B0604020202020204" pitchFamily="34" charset="0"/>
              </a:rPr>
              <a:t>Can’t recognize sarcasm, slang, or hidden meanings.</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Can’t Handle Too Many Comments: </a:t>
            </a:r>
            <a:r>
              <a:rPr lang="en-US" sz="2400" dirty="0">
                <a:latin typeface="Arial" panose="020B0604020202020204" pitchFamily="34" charset="0"/>
                <a:cs typeface="Arial" panose="020B0604020202020204" pitchFamily="34" charset="0"/>
              </a:rPr>
              <a:t>Struggles when there are lots of comments.</a:t>
            </a:r>
            <a:endParaRPr lang="en-IN" sz="2400" dirty="0">
              <a:latin typeface="Arial" panose="020B0604020202020204" pitchFamily="34" charset="0"/>
              <a:cs typeface="Arial" panose="020B0604020202020204" pitchFamily="34" charset="0"/>
            </a:endParaRPr>
          </a:p>
        </p:txBody>
      </p:sp>
      <p:sp>
        <p:nvSpPr>
          <p:cNvPr id="9" name="Text 5"/>
          <p:cNvSpPr/>
          <p:nvPr/>
        </p:nvSpPr>
        <p:spPr>
          <a:xfrm>
            <a:off x="5467350" y="5372101"/>
            <a:ext cx="2977277" cy="400048"/>
          </a:xfrm>
          <a:prstGeom prst="rect">
            <a:avLst/>
          </a:prstGeom>
          <a:noFill/>
        </p:spPr>
        <p:txBody>
          <a:bodyPr wrap="none" rtlCol="0" anchor="t"/>
          <a:lstStyle/>
          <a:p>
            <a:pPr marL="0" indent="0" algn="l">
              <a:lnSpc>
                <a:spcPts val="2735"/>
              </a:lnSpc>
              <a:buNone/>
            </a:pPr>
            <a:endParaRPr lang="en-US" sz="2185" dirty="0">
              <a:latin typeface="Times New Roman" panose="02020603050405020304" pitchFamily="18" charset="0"/>
              <a:cs typeface="Times New Roman" panose="02020603050405020304" pitchFamily="18" charset="0"/>
            </a:endParaRPr>
          </a:p>
        </p:txBody>
      </p:sp>
      <p:sp>
        <p:nvSpPr>
          <p:cNvPr id="10" name="Text 6"/>
          <p:cNvSpPr/>
          <p:nvPr/>
        </p:nvSpPr>
        <p:spPr>
          <a:xfrm>
            <a:off x="5667137" y="5895975"/>
            <a:ext cx="3296007" cy="2120067"/>
          </a:xfrm>
          <a:prstGeom prst="rect">
            <a:avLst/>
          </a:prstGeom>
          <a:noFill/>
        </p:spPr>
        <p:txBody>
          <a:bodyPr wrap="square" rtlCol="0" anchor="t"/>
          <a:lstStyle/>
          <a:p>
            <a:pPr marL="0" indent="0" algn="l">
              <a:lnSpc>
                <a:spcPts val="2800"/>
              </a:lnSpc>
              <a:buNone/>
            </a:pPr>
            <a:endParaRPr lang="en-US" sz="1750" dirty="0"/>
          </a:p>
        </p:txBody>
      </p:sp>
      <p:sp>
        <p:nvSpPr>
          <p:cNvPr id="12" name="Text 7"/>
          <p:cNvSpPr/>
          <p:nvPr/>
        </p:nvSpPr>
        <p:spPr>
          <a:xfrm>
            <a:off x="9296400" y="5372100"/>
            <a:ext cx="2777490" cy="400049"/>
          </a:xfrm>
          <a:prstGeom prst="rect">
            <a:avLst/>
          </a:prstGeom>
          <a:noFill/>
        </p:spPr>
        <p:txBody>
          <a:bodyPr wrap="none" rtlCol="0" anchor="t"/>
          <a:lstStyle/>
          <a:p>
            <a:pPr marL="0" indent="0" algn="l">
              <a:lnSpc>
                <a:spcPts val="2735"/>
              </a:lnSpc>
              <a:buNone/>
            </a:pPr>
            <a:endParaRPr lang="en-US" sz="2185" dirty="0">
              <a:latin typeface="Times New Roman" panose="02020603050405020304" pitchFamily="18" charset="0"/>
              <a:cs typeface="Times New Roman" panose="02020603050405020304" pitchFamily="18" charset="0"/>
            </a:endParaRPr>
          </a:p>
        </p:txBody>
      </p:sp>
      <p:sp>
        <p:nvSpPr>
          <p:cNvPr id="13" name="Text 8"/>
          <p:cNvSpPr/>
          <p:nvPr/>
        </p:nvSpPr>
        <p:spPr>
          <a:xfrm>
            <a:off x="9296400" y="5895976"/>
            <a:ext cx="3296007" cy="1724023"/>
          </a:xfrm>
          <a:prstGeom prst="rect">
            <a:avLst/>
          </a:prstGeom>
          <a:noFill/>
        </p:spPr>
        <p:txBody>
          <a:bodyPr wrap="square" rtlCol="0" anchor="t"/>
          <a:lstStyle/>
          <a:p>
            <a:pPr marL="0" indent="0" algn="l">
              <a:lnSpc>
                <a:spcPts val="2800"/>
              </a:lnSpc>
              <a:buNone/>
            </a:pPr>
            <a:endParaRPr lang="en-US" sz="1750" dirty="0"/>
          </a:p>
        </p:txBody>
      </p:sp>
      <p:sp>
        <p:nvSpPr>
          <p:cNvPr id="15" name="TextBox 14"/>
          <p:cNvSpPr txBox="1"/>
          <p:nvPr/>
        </p:nvSpPr>
        <p:spPr>
          <a:xfrm>
            <a:off x="702855" y="1300827"/>
            <a:ext cx="11689158" cy="2793842"/>
          </a:xfrm>
          <a:prstGeom prst="rect">
            <a:avLst/>
          </a:prstGeom>
          <a:noFill/>
        </p:spPr>
        <p:txBody>
          <a:bodyPr wrap="square" rtlCol="0">
            <a:spAutoFit/>
          </a:bodyPr>
          <a:lstStyle/>
          <a:p>
            <a:pPr algn="just">
              <a:lnSpc>
                <a:spcPct val="150000"/>
              </a:lnSpc>
            </a:pPr>
            <a:r>
              <a:rPr lang="en-US" sz="2400" dirty="0">
                <a:latin typeface="Arial" panose="020B0604020202020204" pitchFamily="34" charset="0"/>
                <a:cs typeface="Arial" panose="020B0604020202020204" pitchFamily="34" charset="0"/>
              </a:rPr>
              <a:t>Right now, YouTube uses basic tools to find bad comments. These tools look for certain harmful words and also use people to check comments. But they don’t always understand the true meaning of what people say. They can miss bad comments or remove good ones by mistake. They also don’t understand jokes, sarcasm, or cultural differences.. </a:t>
            </a:r>
            <a:endParaRPr lang="en-IN" sz="2400" kern="0" dirty="0">
              <a:effectLst/>
              <a:latin typeface="Arial" panose="020B0604020202020204" pitchFamily="34" charset="0"/>
              <a:ea typeface="Calibri" panose="020F0502020204030204" pitchFamily="34" charset="0"/>
              <a:cs typeface="Arial" panose="020B0604020202020204" pitchFamily="34" charset="0"/>
            </a:endParaRPr>
          </a:p>
        </p:txBody>
      </p:sp>
      <p:sp>
        <p:nvSpPr>
          <p:cNvPr id="16" name="TextBox 15"/>
          <p:cNvSpPr txBox="1"/>
          <p:nvPr/>
        </p:nvSpPr>
        <p:spPr>
          <a:xfrm>
            <a:off x="702855" y="4213602"/>
            <a:ext cx="4258031" cy="741550"/>
          </a:xfrm>
          <a:prstGeom prst="rect">
            <a:avLst/>
          </a:prstGeom>
          <a:noFill/>
        </p:spPr>
        <p:txBody>
          <a:bodyPr wrap="square" rtlCol="0">
            <a:spAutoFit/>
          </a:bodyPr>
          <a:lstStyle/>
          <a:p>
            <a:pPr marL="0" indent="0">
              <a:lnSpc>
                <a:spcPts val="5470"/>
              </a:lnSpc>
              <a:buNone/>
            </a:pPr>
            <a:r>
              <a:rPr lang="en-US" sz="4200" b="1" dirty="0">
                <a:solidFill>
                  <a:srgbClr val="484237"/>
                </a:solidFill>
                <a:latin typeface="Arial" panose="020B0604020202020204" pitchFamily="34" charset="0"/>
                <a:ea typeface="Gelasio" pitchFamily="34" charset="-122"/>
                <a:cs typeface="Arial" panose="020B0604020202020204" pitchFamily="34" charset="0"/>
              </a:rPr>
              <a:t>Disadvantages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28636" y="-115557"/>
            <a:ext cx="14659036" cy="8734425"/>
          </a:xfrm>
          <a:prstGeom prst="rect">
            <a:avLst/>
          </a:prstGeom>
          <a:solidFill>
            <a:srgbClr val="F9F6F0"/>
          </a:solidFill>
        </p:spPr>
      </p:sp>
      <p:sp>
        <p:nvSpPr>
          <p:cNvPr id="4" name="Text 2"/>
          <p:cNvSpPr/>
          <p:nvPr/>
        </p:nvSpPr>
        <p:spPr>
          <a:xfrm>
            <a:off x="742174" y="339319"/>
            <a:ext cx="9183413" cy="869792"/>
          </a:xfrm>
          <a:prstGeom prst="rect">
            <a:avLst/>
          </a:prstGeom>
          <a:noFill/>
        </p:spPr>
        <p:txBody>
          <a:bodyPr wrap="none" rtlCol="0" anchor="t"/>
          <a:lstStyle/>
          <a:p>
            <a:pPr marL="0" indent="0">
              <a:lnSpc>
                <a:spcPts val="5470"/>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PROPOSED SYSTEM</a:t>
            </a:r>
            <a:endParaRPr lang="en-US" sz="4400" dirty="0">
              <a:latin typeface="Arial" panose="020B0604020202020204" pitchFamily="34" charset="0"/>
              <a:cs typeface="Arial" panose="020B0604020202020204" pitchFamily="34" charset="0"/>
            </a:endParaRPr>
          </a:p>
        </p:txBody>
      </p:sp>
      <p:sp>
        <p:nvSpPr>
          <p:cNvPr id="6" name="Text 3"/>
          <p:cNvSpPr/>
          <p:nvPr/>
        </p:nvSpPr>
        <p:spPr>
          <a:xfrm>
            <a:off x="2037993" y="5476875"/>
            <a:ext cx="3295887" cy="407192"/>
          </a:xfrm>
          <a:prstGeom prst="rect">
            <a:avLst/>
          </a:prstGeom>
          <a:noFill/>
        </p:spPr>
        <p:txBody>
          <a:bodyPr wrap="square" rtlCol="0" anchor="t"/>
          <a:lstStyle/>
          <a:p>
            <a:pPr marL="0" indent="0" algn="l">
              <a:lnSpc>
                <a:spcPts val="2735"/>
              </a:lnSpc>
              <a:buNone/>
            </a:pPr>
            <a:endParaRPr lang="en-US" sz="2185" dirty="0">
              <a:latin typeface="Times New Roman" panose="02020603050405020304" pitchFamily="18" charset="0"/>
              <a:cs typeface="Times New Roman" panose="02020603050405020304" pitchFamily="18" charset="0"/>
            </a:endParaRPr>
          </a:p>
        </p:txBody>
      </p:sp>
      <p:sp>
        <p:nvSpPr>
          <p:cNvPr id="7" name="Text 4"/>
          <p:cNvSpPr/>
          <p:nvPr/>
        </p:nvSpPr>
        <p:spPr>
          <a:xfrm>
            <a:off x="2037993" y="5876924"/>
            <a:ext cx="3295888" cy="2327553"/>
          </a:xfrm>
          <a:prstGeom prst="rect">
            <a:avLst/>
          </a:prstGeom>
          <a:noFill/>
        </p:spPr>
        <p:txBody>
          <a:bodyPr wrap="square" rtlCol="0" anchor="t"/>
          <a:lstStyle/>
          <a:p>
            <a:pPr marL="0" indent="0" algn="l">
              <a:lnSpc>
                <a:spcPct val="150000"/>
              </a:lnSpc>
              <a:buNone/>
            </a:pPr>
            <a:endParaRPr lang="en-US" sz="1750" dirty="0">
              <a:latin typeface="Times New Roman" panose="02020603050405020304" pitchFamily="18" charset="0"/>
              <a:cs typeface="Times New Roman" panose="02020603050405020304" pitchFamily="18" charset="0"/>
            </a:endParaRPr>
          </a:p>
        </p:txBody>
      </p:sp>
      <p:sp>
        <p:nvSpPr>
          <p:cNvPr id="9" name="Text 5"/>
          <p:cNvSpPr/>
          <p:nvPr/>
        </p:nvSpPr>
        <p:spPr>
          <a:xfrm>
            <a:off x="6010275" y="5476875"/>
            <a:ext cx="2875121" cy="407192"/>
          </a:xfrm>
          <a:prstGeom prst="rect">
            <a:avLst/>
          </a:prstGeom>
          <a:noFill/>
        </p:spPr>
        <p:txBody>
          <a:bodyPr wrap="none" rtlCol="0" anchor="t"/>
          <a:lstStyle/>
          <a:p>
            <a:pPr marL="0" indent="0" algn="l">
              <a:lnSpc>
                <a:spcPts val="2735"/>
              </a:lnSpc>
              <a:buNone/>
            </a:pPr>
            <a:endParaRPr lang="en-US" sz="2185" dirty="0">
              <a:latin typeface="Times New Roman" panose="02020603050405020304" pitchFamily="18" charset="0"/>
              <a:cs typeface="Times New Roman" panose="02020603050405020304" pitchFamily="18" charset="0"/>
            </a:endParaRPr>
          </a:p>
        </p:txBody>
      </p:sp>
      <p:sp>
        <p:nvSpPr>
          <p:cNvPr id="10" name="Text 6"/>
          <p:cNvSpPr/>
          <p:nvPr/>
        </p:nvSpPr>
        <p:spPr>
          <a:xfrm>
            <a:off x="5667137" y="5884067"/>
            <a:ext cx="3296007" cy="2269332"/>
          </a:xfrm>
          <a:prstGeom prst="rect">
            <a:avLst/>
          </a:prstGeom>
          <a:noFill/>
        </p:spPr>
        <p:txBody>
          <a:bodyPr wrap="square" rtlCol="0" anchor="t"/>
          <a:lstStyle/>
          <a:p>
            <a:pPr marL="345440" lvl="1">
              <a:lnSpc>
                <a:spcPct val="150000"/>
              </a:lnSpc>
            </a:pPr>
            <a:endParaRPr lang="en-US" sz="1750" dirty="0">
              <a:latin typeface="Gelasio"/>
            </a:endParaRPr>
          </a:p>
        </p:txBody>
      </p:sp>
      <p:sp>
        <p:nvSpPr>
          <p:cNvPr id="12" name="Text 7"/>
          <p:cNvSpPr/>
          <p:nvPr/>
        </p:nvSpPr>
        <p:spPr>
          <a:xfrm>
            <a:off x="9296400" y="5469732"/>
            <a:ext cx="3122414" cy="407192"/>
          </a:xfrm>
          <a:prstGeom prst="rect">
            <a:avLst/>
          </a:prstGeom>
          <a:noFill/>
        </p:spPr>
        <p:txBody>
          <a:bodyPr wrap="none" rtlCol="0" anchor="t"/>
          <a:lstStyle/>
          <a:p>
            <a:pPr marL="0" indent="0" algn="l">
              <a:lnSpc>
                <a:spcPts val="2735"/>
              </a:lnSpc>
              <a:buNone/>
            </a:pPr>
            <a:endParaRPr lang="en-US" sz="2185" dirty="0">
              <a:latin typeface="Times New Roman" panose="02020603050405020304" pitchFamily="18" charset="0"/>
              <a:cs typeface="Times New Roman" panose="02020603050405020304" pitchFamily="18" charset="0"/>
            </a:endParaRPr>
          </a:p>
        </p:txBody>
      </p:sp>
      <p:sp>
        <p:nvSpPr>
          <p:cNvPr id="13" name="Text 8"/>
          <p:cNvSpPr/>
          <p:nvPr/>
        </p:nvSpPr>
        <p:spPr>
          <a:xfrm>
            <a:off x="9296400" y="5884067"/>
            <a:ext cx="3296007" cy="2269331"/>
          </a:xfrm>
          <a:prstGeom prst="rect">
            <a:avLst/>
          </a:prstGeom>
          <a:noFill/>
        </p:spPr>
        <p:txBody>
          <a:bodyPr wrap="square" rtlCol="0" anchor="t"/>
          <a:lstStyle/>
          <a:p>
            <a:pPr marL="0" indent="0" algn="l">
              <a:lnSpc>
                <a:spcPct val="150000"/>
              </a:lnSpc>
              <a:buNone/>
            </a:pPr>
            <a:endParaRPr lang="en-US" sz="175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4" name="TextBox 13"/>
          <p:cNvSpPr txBox="1"/>
          <p:nvPr/>
        </p:nvSpPr>
        <p:spPr>
          <a:xfrm flipH="1">
            <a:off x="685800" y="1315213"/>
            <a:ext cx="13074805" cy="2239844"/>
          </a:xfrm>
          <a:prstGeom prst="rect">
            <a:avLst/>
          </a:prstGeom>
          <a:noFill/>
        </p:spPr>
        <p:txBody>
          <a:bodyPr wrap="square" rtlCol="0">
            <a:spAutoFit/>
          </a:bodyPr>
          <a:lstStyle/>
          <a:p>
            <a:pPr algn="just">
              <a:lnSpc>
                <a:spcPct val="150000"/>
              </a:lnSpc>
              <a:spcAft>
                <a:spcPts val="1000"/>
              </a:spcAft>
            </a:pPr>
            <a:r>
              <a:rPr lang="en-US" sz="2400" dirty="0">
                <a:latin typeface="Arial" panose="020B0604020202020204" pitchFamily="34" charset="0"/>
                <a:ea typeface="Calibri" panose="020F0502020204030204" pitchFamily="34" charset="0"/>
                <a:cs typeface="Arial" panose="020B0604020202020204" pitchFamily="34" charset="0"/>
              </a:rPr>
              <a:t>The new system will use smart technology (machine learning and NLP) to quickly find bad comments. It will not just look at words but also understand the meaning behind them. Tools like NLTK and </a:t>
            </a:r>
            <a:r>
              <a:rPr lang="en-US" sz="2400" dirty="0" err="1">
                <a:latin typeface="Arial" panose="020B0604020202020204" pitchFamily="34" charset="0"/>
                <a:ea typeface="Calibri" panose="020F0502020204030204" pitchFamily="34" charset="0"/>
                <a:cs typeface="Arial" panose="020B0604020202020204" pitchFamily="34" charset="0"/>
              </a:rPr>
              <a:t>TextBlob</a:t>
            </a:r>
            <a:r>
              <a:rPr lang="en-US" sz="2400" dirty="0">
                <a:latin typeface="Arial" panose="020B0604020202020204" pitchFamily="34" charset="0"/>
                <a:ea typeface="Calibri" panose="020F0502020204030204" pitchFamily="34" charset="0"/>
                <a:cs typeface="Arial" panose="020B0604020202020204" pitchFamily="34" charset="0"/>
              </a:rPr>
              <a:t> will help clean and analyze the text. This system can handle many comments at once and will help moderators keep YouTube safe.</a:t>
            </a:r>
            <a:endParaRPr lang="en-IN" sz="2400" dirty="0">
              <a:latin typeface="Arial" panose="020B0604020202020204" pitchFamily="34" charset="0"/>
              <a:ea typeface="Calibri" panose="020F0502020204030204" pitchFamily="34" charset="0"/>
              <a:cs typeface="Arial" panose="020B0604020202020204" pitchFamily="34" charset="0"/>
            </a:endParaRPr>
          </a:p>
        </p:txBody>
      </p:sp>
      <p:sp>
        <p:nvSpPr>
          <p:cNvPr id="5" name="TextBox 4"/>
          <p:cNvSpPr txBox="1"/>
          <p:nvPr/>
        </p:nvSpPr>
        <p:spPr>
          <a:xfrm>
            <a:off x="685800" y="3696630"/>
            <a:ext cx="4733925" cy="738664"/>
          </a:xfrm>
          <a:prstGeom prst="rect">
            <a:avLst/>
          </a:prstGeom>
          <a:noFill/>
        </p:spPr>
        <p:txBody>
          <a:bodyPr wrap="square" rtlCol="0">
            <a:spAutoFit/>
          </a:bodyPr>
          <a:lstStyle/>
          <a:p>
            <a:r>
              <a:rPr lang="en-US" sz="4200" b="1" dirty="0">
                <a:solidFill>
                  <a:srgbClr val="484237"/>
                </a:solidFill>
                <a:latin typeface="Arial" panose="020B0604020202020204" pitchFamily="34" charset="0"/>
                <a:ea typeface="Gelasio" pitchFamily="34" charset="-122"/>
                <a:cs typeface="Arial" panose="020B0604020202020204" pitchFamily="34" charset="0"/>
              </a:rPr>
              <a:t>Advantages</a:t>
            </a:r>
          </a:p>
        </p:txBody>
      </p:sp>
      <p:sp>
        <p:nvSpPr>
          <p:cNvPr id="18" name="TextBox 17"/>
          <p:cNvSpPr txBox="1"/>
          <p:nvPr/>
        </p:nvSpPr>
        <p:spPr>
          <a:xfrm>
            <a:off x="685800" y="4510701"/>
            <a:ext cx="12401550" cy="3860800"/>
          </a:xfrm>
          <a:prstGeom prst="rect">
            <a:avLst/>
          </a:prstGeom>
          <a:noFill/>
        </p:spPr>
        <p:txBody>
          <a:bodyPr wrap="square" rtlCol="0">
            <a:spAutoFit/>
          </a:bodyPr>
          <a:lstStyle/>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Quickly Finds Bad Comments: </a:t>
            </a:r>
            <a:r>
              <a:rPr lang="en-US" sz="2400" dirty="0">
                <a:latin typeface="Arial" panose="020B0604020202020204" pitchFamily="34" charset="0"/>
                <a:cs typeface="Arial" panose="020B0604020202020204" pitchFamily="34" charset="0"/>
              </a:rPr>
              <a:t>Detects harmful comments right away.</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Understands Meaning: </a:t>
            </a:r>
            <a:r>
              <a:rPr lang="en-US" sz="2400" dirty="0">
                <a:latin typeface="Arial" panose="020B0604020202020204" pitchFamily="34" charset="0"/>
                <a:cs typeface="Arial" panose="020B0604020202020204" pitchFamily="34" charset="0"/>
              </a:rPr>
              <a:t>Gets sarcasm, slang, and hidden harmful messages.</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Less Need for Human Checking: </a:t>
            </a:r>
            <a:r>
              <a:rPr lang="en-US" sz="2400" dirty="0">
                <a:latin typeface="Arial" panose="020B0604020202020204" pitchFamily="34" charset="0"/>
                <a:cs typeface="Arial" panose="020B0604020202020204" pitchFamily="34" charset="0"/>
              </a:rPr>
              <a:t>Automatically flags bad comments.</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Handles Lots of Comments: </a:t>
            </a:r>
            <a:r>
              <a:rPr lang="en-US" sz="2400" dirty="0">
                <a:latin typeface="Arial" panose="020B0604020202020204" pitchFamily="34" charset="0"/>
                <a:cs typeface="Arial" panose="020B0604020202020204" pitchFamily="34" charset="0"/>
              </a:rPr>
              <a:t>Can process many comments at the same time.</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Gets Smarter Over Time: </a:t>
            </a:r>
            <a:r>
              <a:rPr lang="en-US" sz="2400" dirty="0">
                <a:latin typeface="Arial" panose="020B0604020202020204" pitchFamily="34" charset="0"/>
                <a:cs typeface="Arial" panose="020B0604020202020204" pitchFamily="34" charset="0"/>
              </a:rPr>
              <a:t>Learns from new information and feedback.</a:t>
            </a:r>
          </a:p>
          <a:p>
            <a:pPr marL="342900" indent="-342900" algn="just">
              <a:lnSpc>
                <a:spcPct val="150000"/>
              </a:lnSpc>
              <a:spcAft>
                <a:spcPts val="8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Easy to Track Issues: </a:t>
            </a:r>
            <a:r>
              <a:rPr lang="en-US" sz="2400" dirty="0">
                <a:latin typeface="Arial" panose="020B0604020202020204" pitchFamily="34" charset="0"/>
                <a:cs typeface="Arial" panose="020B0604020202020204" pitchFamily="34" charset="0"/>
              </a:rPr>
              <a:t>Gives clear reports for moderators.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19052" y="0"/>
            <a:ext cx="14630400" cy="8229600"/>
          </a:xfrm>
          <a:prstGeom prst="rect">
            <a:avLst/>
          </a:prstGeom>
          <a:solidFill>
            <a:srgbClr val="F9F6F0"/>
          </a:solidFill>
          <a:ln/>
        </p:spPr>
        <p:txBody>
          <a:bodyPr/>
          <a:lstStyle/>
          <a:p>
            <a:endParaRPr lang="en-IN"/>
          </a:p>
        </p:txBody>
      </p:sp>
      <p:sp>
        <p:nvSpPr>
          <p:cNvPr id="4" name="Text 2"/>
          <p:cNvSpPr/>
          <p:nvPr/>
        </p:nvSpPr>
        <p:spPr>
          <a:xfrm>
            <a:off x="548490" y="264694"/>
            <a:ext cx="10774384" cy="1130970"/>
          </a:xfrm>
          <a:prstGeom prst="rect">
            <a:avLst/>
          </a:prstGeom>
          <a:noFill/>
          <a:ln/>
        </p:spPr>
        <p:txBody>
          <a:bodyPr wrap="none" rtlCol="0" anchor="t"/>
          <a:lstStyle/>
          <a:p>
            <a:pPr marL="0" indent="0">
              <a:lnSpc>
                <a:spcPts val="5468"/>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FUNCTIONAL REQUIREMENTS</a:t>
            </a:r>
            <a:endParaRPr lang="en-US" sz="4400" dirty="0">
              <a:latin typeface="Arial" panose="020B0604020202020204" pitchFamily="34" charset="0"/>
              <a:cs typeface="Arial" panose="020B0604020202020204" pitchFamily="34" charset="0"/>
            </a:endParaRPr>
          </a:p>
        </p:txBody>
      </p:sp>
      <p:sp>
        <p:nvSpPr>
          <p:cNvPr id="5" name="Text 3"/>
          <p:cNvSpPr/>
          <p:nvPr/>
        </p:nvSpPr>
        <p:spPr>
          <a:xfrm>
            <a:off x="2037993" y="2226707"/>
            <a:ext cx="2232065" cy="694373"/>
          </a:xfrm>
          <a:prstGeom prst="rect">
            <a:avLst/>
          </a:prstGeom>
          <a:noFill/>
          <a:ln/>
        </p:spPr>
        <p:txBody>
          <a:bodyPr wrap="square" rtlCol="0" anchor="t"/>
          <a:lstStyle/>
          <a:p>
            <a:pPr marL="0" indent="0">
              <a:lnSpc>
                <a:spcPts val="2734"/>
              </a:lnSpc>
              <a:buNone/>
            </a:pPr>
            <a:endParaRPr lang="en-US" sz="2187" dirty="0"/>
          </a:p>
        </p:txBody>
      </p:sp>
      <p:sp>
        <p:nvSpPr>
          <p:cNvPr id="6" name="Text 4"/>
          <p:cNvSpPr/>
          <p:nvPr/>
        </p:nvSpPr>
        <p:spPr>
          <a:xfrm>
            <a:off x="2037993" y="3143250"/>
            <a:ext cx="2232065" cy="3554016"/>
          </a:xfrm>
          <a:prstGeom prst="rect">
            <a:avLst/>
          </a:prstGeom>
          <a:noFill/>
          <a:ln/>
        </p:spPr>
        <p:txBody>
          <a:bodyPr wrap="square" rtlCol="0" anchor="t"/>
          <a:lstStyle/>
          <a:p>
            <a:pPr marL="0" indent="0">
              <a:lnSpc>
                <a:spcPts val="2799"/>
              </a:lnSpc>
              <a:buNone/>
            </a:pPr>
            <a:endParaRPr lang="en-US" sz="1750" dirty="0"/>
          </a:p>
        </p:txBody>
      </p:sp>
      <p:sp>
        <p:nvSpPr>
          <p:cNvPr id="7" name="Text 5"/>
          <p:cNvSpPr/>
          <p:nvPr/>
        </p:nvSpPr>
        <p:spPr>
          <a:xfrm>
            <a:off x="4819650" y="2226707"/>
            <a:ext cx="2232065" cy="694373"/>
          </a:xfrm>
          <a:prstGeom prst="rect">
            <a:avLst/>
          </a:prstGeom>
          <a:noFill/>
          <a:ln/>
        </p:spPr>
        <p:txBody>
          <a:bodyPr wrap="square" rtlCol="0" anchor="t"/>
          <a:lstStyle/>
          <a:p>
            <a:pPr marL="0" indent="0">
              <a:lnSpc>
                <a:spcPts val="2734"/>
              </a:lnSpc>
              <a:buNone/>
            </a:pPr>
            <a:endParaRPr lang="en-US" sz="2187" dirty="0"/>
          </a:p>
        </p:txBody>
      </p:sp>
      <p:sp>
        <p:nvSpPr>
          <p:cNvPr id="8" name="Text 6"/>
          <p:cNvSpPr/>
          <p:nvPr/>
        </p:nvSpPr>
        <p:spPr>
          <a:xfrm>
            <a:off x="4819650" y="3143250"/>
            <a:ext cx="2232065" cy="3909417"/>
          </a:xfrm>
          <a:prstGeom prst="rect">
            <a:avLst/>
          </a:prstGeom>
          <a:noFill/>
          <a:ln/>
        </p:spPr>
        <p:txBody>
          <a:bodyPr wrap="square" rtlCol="0" anchor="t"/>
          <a:lstStyle/>
          <a:p>
            <a:pPr marL="0" indent="0">
              <a:lnSpc>
                <a:spcPts val="2799"/>
              </a:lnSpc>
              <a:buNone/>
            </a:pPr>
            <a:endParaRPr lang="en-US" sz="1750" dirty="0"/>
          </a:p>
        </p:txBody>
      </p:sp>
      <p:sp>
        <p:nvSpPr>
          <p:cNvPr id="9" name="Text 7"/>
          <p:cNvSpPr/>
          <p:nvPr/>
        </p:nvSpPr>
        <p:spPr>
          <a:xfrm>
            <a:off x="7601307" y="2226707"/>
            <a:ext cx="2232065" cy="347186"/>
          </a:xfrm>
          <a:prstGeom prst="rect">
            <a:avLst/>
          </a:prstGeom>
          <a:noFill/>
          <a:ln/>
        </p:spPr>
        <p:txBody>
          <a:bodyPr wrap="none" rtlCol="0" anchor="t"/>
          <a:lstStyle/>
          <a:p>
            <a:pPr marL="0" indent="0">
              <a:lnSpc>
                <a:spcPts val="2734"/>
              </a:lnSpc>
              <a:buNone/>
            </a:pPr>
            <a:endParaRPr lang="en-US" sz="2187" dirty="0"/>
          </a:p>
        </p:txBody>
      </p:sp>
      <p:sp>
        <p:nvSpPr>
          <p:cNvPr id="10" name="Text 8"/>
          <p:cNvSpPr/>
          <p:nvPr/>
        </p:nvSpPr>
        <p:spPr>
          <a:xfrm>
            <a:off x="7601307" y="2796064"/>
            <a:ext cx="2232065" cy="3554016"/>
          </a:xfrm>
          <a:prstGeom prst="rect">
            <a:avLst/>
          </a:prstGeom>
          <a:noFill/>
          <a:ln/>
        </p:spPr>
        <p:txBody>
          <a:bodyPr wrap="square" rtlCol="0" anchor="t"/>
          <a:lstStyle/>
          <a:p>
            <a:pPr marL="0" indent="0">
              <a:lnSpc>
                <a:spcPts val="2799"/>
              </a:lnSpc>
              <a:buNone/>
            </a:pPr>
            <a:endParaRPr lang="en-US" sz="1750" dirty="0"/>
          </a:p>
        </p:txBody>
      </p:sp>
      <p:sp>
        <p:nvSpPr>
          <p:cNvPr id="11" name="Text 9"/>
          <p:cNvSpPr/>
          <p:nvPr/>
        </p:nvSpPr>
        <p:spPr>
          <a:xfrm>
            <a:off x="10382964" y="2226707"/>
            <a:ext cx="2232065" cy="694373"/>
          </a:xfrm>
          <a:prstGeom prst="rect">
            <a:avLst/>
          </a:prstGeom>
          <a:noFill/>
          <a:ln/>
        </p:spPr>
        <p:txBody>
          <a:bodyPr wrap="square" rtlCol="0" anchor="t"/>
          <a:lstStyle/>
          <a:p>
            <a:pPr marL="0" indent="0">
              <a:lnSpc>
                <a:spcPts val="2734"/>
              </a:lnSpc>
              <a:buNone/>
            </a:pPr>
            <a:endParaRPr lang="en-US" sz="2187" dirty="0"/>
          </a:p>
        </p:txBody>
      </p:sp>
      <p:sp>
        <p:nvSpPr>
          <p:cNvPr id="12" name="Text 10"/>
          <p:cNvSpPr/>
          <p:nvPr/>
        </p:nvSpPr>
        <p:spPr>
          <a:xfrm>
            <a:off x="10382964" y="3143250"/>
            <a:ext cx="2232065" cy="3554016"/>
          </a:xfrm>
          <a:prstGeom prst="rect">
            <a:avLst/>
          </a:prstGeom>
          <a:noFill/>
          <a:ln/>
        </p:spPr>
        <p:txBody>
          <a:bodyPr wrap="square" rtlCol="0" anchor="t"/>
          <a:lstStyle/>
          <a:p>
            <a:pPr marL="0" indent="0">
              <a:lnSpc>
                <a:spcPts val="2799"/>
              </a:lnSpc>
              <a:buNone/>
            </a:pPr>
            <a:endParaRPr lang="en-US" sz="1750" dirty="0"/>
          </a:p>
        </p:txBody>
      </p:sp>
      <p:sp>
        <p:nvSpPr>
          <p:cNvPr id="13" name="TextBox 12">
            <a:extLst>
              <a:ext uri="{FF2B5EF4-FFF2-40B4-BE49-F238E27FC236}">
                <a16:creationId xmlns:a16="http://schemas.microsoft.com/office/drawing/2014/main" id="{22FDBC23-2C3F-4028-95A3-699647750FB1}"/>
              </a:ext>
            </a:extLst>
          </p:cNvPr>
          <p:cNvSpPr txBox="1"/>
          <p:nvPr/>
        </p:nvSpPr>
        <p:spPr>
          <a:xfrm>
            <a:off x="284697" y="1395664"/>
            <a:ext cx="13797213" cy="6671826"/>
          </a:xfrm>
          <a:prstGeom prst="rect">
            <a:avLst/>
          </a:prstGeom>
          <a:noFill/>
        </p:spPr>
        <p:txBody>
          <a:bodyPr wrap="square" rtlCol="0">
            <a:spAutoFit/>
          </a:bodyPr>
          <a:lstStyle/>
          <a:p>
            <a:pPr marL="514350" indent="-514350">
              <a:lnSpc>
                <a:spcPct val="150000"/>
              </a:lnSpc>
              <a:buAutoNum type="arabicPeriod"/>
            </a:pPr>
            <a:r>
              <a:rPr lang="en-US" sz="2400" b="1" dirty="0">
                <a:latin typeface="Arial" panose="020B0604020202020204" pitchFamily="34" charset="0"/>
                <a:cs typeface="Arial" panose="020B0604020202020204" pitchFamily="34" charset="0"/>
              </a:rPr>
              <a:t>User Module:</a:t>
            </a:r>
          </a:p>
          <a:p>
            <a:pPr>
              <a:lnSpc>
                <a:spcPct val="150000"/>
              </a:lnSpc>
            </a:pPr>
            <a:r>
              <a:rPr lang="en-US" sz="2400" dirty="0">
                <a:latin typeface="Arial" panose="020B0604020202020204" pitchFamily="34" charset="0"/>
                <a:cs typeface="Arial" panose="020B0604020202020204" pitchFamily="34" charset="0"/>
              </a:rPr>
              <a:t>     Lets users post comments and get alerts if flagged.</a:t>
            </a:r>
          </a:p>
          <a:p>
            <a:pPr>
              <a:lnSpc>
                <a:spcPct val="150000"/>
              </a:lnSpc>
            </a:pPr>
            <a:r>
              <a:rPr lang="en-US" sz="2400" b="1" dirty="0">
                <a:latin typeface="Arial" panose="020B0604020202020204" pitchFamily="34" charset="0"/>
                <a:cs typeface="Arial" panose="020B0604020202020204" pitchFamily="34" charset="0"/>
              </a:rPr>
              <a:t>2. Admin Module:</a:t>
            </a:r>
          </a:p>
          <a:p>
            <a:pPr>
              <a:lnSpc>
                <a:spcPct val="150000"/>
              </a:lnSpc>
            </a:pPr>
            <a:r>
              <a:rPr lang="en-US" sz="2400" dirty="0">
                <a:latin typeface="Arial" panose="020B0604020202020204" pitchFamily="34" charset="0"/>
                <a:cs typeface="Arial" panose="020B0604020202020204" pitchFamily="34" charset="0"/>
              </a:rPr>
              <a:t>     Allows admins to manage users, check flagged comments, and view reports.</a:t>
            </a:r>
          </a:p>
          <a:p>
            <a:pPr>
              <a:lnSpc>
                <a:spcPct val="150000"/>
              </a:lnSpc>
            </a:pPr>
            <a:r>
              <a:rPr lang="en-US" sz="2400" b="1" dirty="0">
                <a:latin typeface="Arial" panose="020B0604020202020204" pitchFamily="34" charset="0"/>
                <a:cs typeface="Arial" panose="020B0604020202020204" pitchFamily="34" charset="0"/>
              </a:rPr>
              <a:t>3. Machine Learning Module:</a:t>
            </a:r>
          </a:p>
          <a:p>
            <a:pPr>
              <a:lnSpc>
                <a:spcPct val="150000"/>
              </a:lnSpc>
            </a:pPr>
            <a:r>
              <a:rPr lang="en-US" sz="2400" dirty="0">
                <a:latin typeface="Arial" panose="020B0604020202020204" pitchFamily="34" charset="0"/>
                <a:cs typeface="Arial" panose="020B0604020202020204" pitchFamily="34" charset="0"/>
              </a:rPr>
              <a:t>     Finds toxic comments using smart language tools and keeps improving.</a:t>
            </a:r>
          </a:p>
          <a:p>
            <a:pPr>
              <a:lnSpc>
                <a:spcPct val="150000"/>
              </a:lnSpc>
            </a:pPr>
            <a:r>
              <a:rPr lang="en-US" sz="2400" b="1" dirty="0">
                <a:latin typeface="Arial" panose="020B0604020202020204" pitchFamily="34" charset="0"/>
                <a:cs typeface="Arial" panose="020B0604020202020204" pitchFamily="34" charset="0"/>
              </a:rPr>
              <a:t>4. Dashboard Module:</a:t>
            </a:r>
          </a:p>
          <a:p>
            <a:pPr>
              <a:lnSpc>
                <a:spcPct val="150000"/>
              </a:lnSpc>
            </a:pPr>
            <a:r>
              <a:rPr lang="en-US" sz="2400" dirty="0">
                <a:latin typeface="Arial" panose="020B0604020202020204" pitchFamily="34" charset="0"/>
                <a:cs typeface="Arial" panose="020B0604020202020204" pitchFamily="34" charset="0"/>
              </a:rPr>
              <a:t>     Shows real-time data and reports about toxic comments.</a:t>
            </a:r>
          </a:p>
          <a:p>
            <a:pPr>
              <a:lnSpc>
                <a:spcPct val="150000"/>
              </a:lnSpc>
            </a:pPr>
            <a:r>
              <a:rPr lang="en-US" sz="2400" b="1" dirty="0">
                <a:latin typeface="Arial" panose="020B0604020202020204" pitchFamily="34" charset="0"/>
                <a:cs typeface="Arial" panose="020B0604020202020204" pitchFamily="34" charset="0"/>
              </a:rPr>
              <a:t>5. Security Module:</a:t>
            </a:r>
          </a:p>
          <a:p>
            <a:pPr>
              <a:lnSpc>
                <a:spcPct val="150000"/>
              </a:lnSpc>
            </a:pPr>
            <a:r>
              <a:rPr lang="en-US" sz="2400" dirty="0">
                <a:latin typeface="Arial" panose="020B0604020202020204" pitchFamily="34" charset="0"/>
                <a:cs typeface="Arial" panose="020B0604020202020204" pitchFamily="34" charset="0"/>
              </a:rPr>
              <a:t>     Protects user data and controls who can access the system.</a:t>
            </a:r>
          </a:p>
          <a:p>
            <a:pPr>
              <a:lnSpc>
                <a:spcPct val="150000"/>
              </a:lnSpc>
            </a:pPr>
            <a:r>
              <a:rPr lang="en-US" sz="2400" b="1" dirty="0">
                <a:latin typeface="Arial" panose="020B0604020202020204" pitchFamily="34" charset="0"/>
                <a:cs typeface="Arial" panose="020B0604020202020204" pitchFamily="34" charset="0"/>
              </a:rPr>
              <a:t>6. API Integration Module:</a:t>
            </a:r>
          </a:p>
          <a:p>
            <a:pPr>
              <a:lnSpc>
                <a:spcPct val="150000"/>
              </a:lnSpc>
            </a:pPr>
            <a:r>
              <a:rPr lang="en-US" sz="2400" dirty="0">
                <a:latin typeface="Arial" panose="020B0604020202020204" pitchFamily="34" charset="0"/>
                <a:cs typeface="Arial" panose="020B0604020202020204" pitchFamily="34" charset="0"/>
              </a:rPr>
              <a:t>     Connects with YouTube to collect and manage comments.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111086" y="0"/>
            <a:ext cx="14741485" cy="8229600"/>
          </a:xfrm>
          <a:prstGeom prst="rect">
            <a:avLst/>
          </a:prstGeom>
          <a:solidFill>
            <a:srgbClr val="F9F6F0"/>
          </a:solidFill>
          <a:ln/>
        </p:spPr>
      </p:sp>
      <p:sp>
        <p:nvSpPr>
          <p:cNvPr id="4" name="Text 2"/>
          <p:cNvSpPr/>
          <p:nvPr/>
        </p:nvSpPr>
        <p:spPr>
          <a:xfrm>
            <a:off x="729377" y="698668"/>
            <a:ext cx="8267699" cy="918567"/>
          </a:xfrm>
          <a:prstGeom prst="rect">
            <a:avLst/>
          </a:prstGeom>
          <a:noFill/>
          <a:ln/>
        </p:spPr>
        <p:txBody>
          <a:bodyPr wrap="none" rtlCol="0" anchor="t"/>
          <a:lstStyle/>
          <a:p>
            <a:pPr marL="0" indent="0">
              <a:lnSpc>
                <a:spcPts val="5468"/>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NON FUNCTIONAL REQUIREMENTS</a:t>
            </a:r>
            <a:endParaRPr lang="en-US" sz="4400" dirty="0">
              <a:latin typeface="Arial" panose="020B0604020202020204" pitchFamily="34" charset="0"/>
              <a:cs typeface="Arial" panose="020B0604020202020204" pitchFamily="34" charset="0"/>
            </a:endParaRPr>
          </a:p>
        </p:txBody>
      </p:sp>
      <p:sp>
        <p:nvSpPr>
          <p:cNvPr id="6" name="Text 4"/>
          <p:cNvSpPr/>
          <p:nvPr/>
        </p:nvSpPr>
        <p:spPr>
          <a:xfrm>
            <a:off x="2209324" y="2712720"/>
            <a:ext cx="157282" cy="416481"/>
          </a:xfrm>
          <a:prstGeom prst="rect">
            <a:avLst/>
          </a:prstGeom>
          <a:noFill/>
          <a:ln/>
        </p:spPr>
        <p:txBody>
          <a:bodyPr wrap="none" rtlCol="0" anchor="t"/>
          <a:lstStyle/>
          <a:p>
            <a:pPr marL="0" indent="0" algn="ctr">
              <a:lnSpc>
                <a:spcPts val="3281"/>
              </a:lnSpc>
              <a:buNone/>
            </a:pPr>
            <a:endParaRPr lang="en-US" sz="2624" dirty="0"/>
          </a:p>
        </p:txBody>
      </p:sp>
      <p:sp>
        <p:nvSpPr>
          <p:cNvPr id="7" name="Text 5"/>
          <p:cNvSpPr/>
          <p:nvPr/>
        </p:nvSpPr>
        <p:spPr>
          <a:xfrm>
            <a:off x="2760107" y="2671048"/>
            <a:ext cx="2777490" cy="347186"/>
          </a:xfrm>
          <a:prstGeom prst="rect">
            <a:avLst/>
          </a:prstGeom>
          <a:noFill/>
          <a:ln/>
        </p:spPr>
        <p:txBody>
          <a:bodyPr wrap="none" rtlCol="0" anchor="t"/>
          <a:lstStyle/>
          <a:p>
            <a:pPr marL="0" indent="0">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8" name="Text 6"/>
          <p:cNvSpPr/>
          <p:nvPr/>
        </p:nvSpPr>
        <p:spPr>
          <a:xfrm>
            <a:off x="2760107" y="3151465"/>
            <a:ext cx="4444008" cy="1066205"/>
          </a:xfrm>
          <a:prstGeom prst="rect">
            <a:avLst/>
          </a:prstGeom>
          <a:noFill/>
          <a:ln/>
        </p:spPr>
        <p:txBody>
          <a:bodyPr wrap="square" rtlCol="0" anchor="t"/>
          <a:lstStyle/>
          <a:p>
            <a:pPr marL="0" indent="0">
              <a:lnSpc>
                <a:spcPts val="2799"/>
              </a:lnSpc>
              <a:buNone/>
            </a:pP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48399" y="2671048"/>
            <a:ext cx="2777490" cy="347186"/>
          </a:xfrm>
          <a:prstGeom prst="rect">
            <a:avLst/>
          </a:prstGeom>
          <a:noFill/>
          <a:ln/>
        </p:spPr>
        <p:txBody>
          <a:bodyPr wrap="none" rtlCol="0" anchor="t"/>
          <a:lstStyle/>
          <a:p>
            <a:pPr marL="0" indent="0">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12" name="Text 10"/>
          <p:cNvSpPr/>
          <p:nvPr/>
        </p:nvSpPr>
        <p:spPr>
          <a:xfrm>
            <a:off x="8148399" y="3151465"/>
            <a:ext cx="4444008" cy="1421606"/>
          </a:xfrm>
          <a:prstGeom prst="rect">
            <a:avLst/>
          </a:prstGeom>
          <a:noFill/>
          <a:ln/>
        </p:spPr>
        <p:txBody>
          <a:bodyPr wrap="square" rtlCol="0" anchor="t"/>
          <a:lstStyle/>
          <a:p>
            <a:pPr marL="0" indent="0">
              <a:lnSpc>
                <a:spcPts val="2799"/>
              </a:lnSpc>
              <a:buNone/>
            </a:pP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2187535" y="5086826"/>
            <a:ext cx="200858" cy="416481"/>
          </a:xfrm>
          <a:prstGeom prst="rect">
            <a:avLst/>
          </a:prstGeom>
          <a:noFill/>
          <a:ln/>
        </p:spPr>
        <p:txBody>
          <a:bodyPr wrap="none" rtlCol="0" anchor="t"/>
          <a:lstStyle/>
          <a:p>
            <a:pPr marL="0" indent="0" algn="ctr">
              <a:lnSpc>
                <a:spcPts val="3281"/>
              </a:lnSpc>
              <a:buNone/>
            </a:pPr>
            <a:endParaRPr lang="en-US" sz="2624" dirty="0"/>
          </a:p>
        </p:txBody>
      </p:sp>
      <p:sp>
        <p:nvSpPr>
          <p:cNvPr id="15" name="Text 13"/>
          <p:cNvSpPr/>
          <p:nvPr/>
        </p:nvSpPr>
        <p:spPr>
          <a:xfrm>
            <a:off x="2760107" y="5045154"/>
            <a:ext cx="2777490" cy="347186"/>
          </a:xfrm>
          <a:prstGeom prst="rect">
            <a:avLst/>
          </a:prstGeom>
          <a:noFill/>
          <a:ln/>
        </p:spPr>
        <p:txBody>
          <a:bodyPr wrap="none" rtlCol="0" anchor="t"/>
          <a:lstStyle/>
          <a:p>
            <a:pPr marL="0" indent="0">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16" name="Text 14"/>
          <p:cNvSpPr/>
          <p:nvPr/>
        </p:nvSpPr>
        <p:spPr>
          <a:xfrm>
            <a:off x="2760107" y="5525572"/>
            <a:ext cx="4444008" cy="1421606"/>
          </a:xfrm>
          <a:prstGeom prst="rect">
            <a:avLst/>
          </a:prstGeom>
          <a:noFill/>
          <a:ln/>
        </p:spPr>
        <p:txBody>
          <a:bodyPr wrap="square" rtlCol="0" anchor="t"/>
          <a:lstStyle/>
          <a:p>
            <a:pPr marL="0" indent="0">
              <a:lnSpc>
                <a:spcPts val="2799"/>
              </a:lnSpc>
              <a:buNone/>
            </a:pP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7572256" y="5086826"/>
            <a:ext cx="207883" cy="416481"/>
          </a:xfrm>
          <a:prstGeom prst="rect">
            <a:avLst/>
          </a:prstGeom>
          <a:noFill/>
          <a:ln/>
        </p:spPr>
        <p:txBody>
          <a:bodyPr wrap="none" rtlCol="0" anchor="t"/>
          <a:lstStyle/>
          <a:p>
            <a:pPr marL="0" indent="0" algn="ctr">
              <a:lnSpc>
                <a:spcPts val="3281"/>
              </a:lnSpc>
              <a:buNone/>
            </a:pPr>
            <a:endParaRPr lang="en-US" sz="2624" dirty="0"/>
          </a:p>
        </p:txBody>
      </p:sp>
      <p:sp>
        <p:nvSpPr>
          <p:cNvPr id="19" name="Text 17"/>
          <p:cNvSpPr/>
          <p:nvPr/>
        </p:nvSpPr>
        <p:spPr>
          <a:xfrm>
            <a:off x="8148399" y="5045154"/>
            <a:ext cx="2777490" cy="347186"/>
          </a:xfrm>
          <a:prstGeom prst="rect">
            <a:avLst/>
          </a:prstGeom>
          <a:noFill/>
          <a:ln/>
        </p:spPr>
        <p:txBody>
          <a:bodyPr wrap="none" rtlCol="0" anchor="t"/>
          <a:lstStyle/>
          <a:p>
            <a:pPr marL="0" indent="0">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20" name="Text 18"/>
          <p:cNvSpPr/>
          <p:nvPr/>
        </p:nvSpPr>
        <p:spPr>
          <a:xfrm>
            <a:off x="8148399" y="5525572"/>
            <a:ext cx="4444008" cy="1421606"/>
          </a:xfrm>
          <a:prstGeom prst="rect">
            <a:avLst/>
          </a:prstGeom>
          <a:noFill/>
          <a:ln/>
        </p:spPr>
        <p:txBody>
          <a:bodyPr wrap="square" rtlCol="0" anchor="t"/>
          <a:lstStyle/>
          <a:p>
            <a:pPr marL="0" indent="0">
              <a:lnSpc>
                <a:spcPts val="2799"/>
              </a:lnSpc>
              <a:buNone/>
            </a:pPr>
            <a:endParaRPr lang="en-US"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5AAD086D-791C-4546-9D1A-CEB2CE7E146B}"/>
              </a:ext>
            </a:extLst>
          </p:cNvPr>
          <p:cNvSpPr txBox="1"/>
          <p:nvPr/>
        </p:nvSpPr>
        <p:spPr>
          <a:xfrm>
            <a:off x="489703" y="1747191"/>
            <a:ext cx="12730997" cy="3347840"/>
          </a:xfrm>
          <a:prstGeom prst="rect">
            <a:avLst/>
          </a:prstGeom>
          <a:noFill/>
        </p:spPr>
        <p:txBody>
          <a:bodyPr wrap="square" rtlCol="0">
            <a:spAutoFit/>
          </a:bodyPr>
          <a:lstStyle/>
          <a:p>
            <a:pPr marL="457200" indent="-457200" algn="just">
              <a:lnSpc>
                <a:spcPct val="150000"/>
              </a:lnSpc>
              <a:buAutoNum type="arabicPeriod"/>
            </a:pPr>
            <a:r>
              <a:rPr lang="en-US" sz="2400" b="1" dirty="0">
                <a:latin typeface="Arial" panose="020B0604020202020204" pitchFamily="34" charset="0"/>
                <a:cs typeface="Arial" panose="020B0604020202020204" pitchFamily="34" charset="0"/>
              </a:rPr>
              <a:t>Scalability</a:t>
            </a:r>
            <a:r>
              <a:rPr lang="en-US" sz="2400" dirty="0">
                <a:latin typeface="Arial" panose="020B0604020202020204" pitchFamily="34" charset="0"/>
                <a:cs typeface="Arial" panose="020B0604020202020204" pitchFamily="34" charset="0"/>
              </a:rPr>
              <a:t> – Handle large volumes of comments.</a:t>
            </a:r>
          </a:p>
          <a:p>
            <a:pPr marL="457200" indent="-457200" algn="just">
              <a:lnSpc>
                <a:spcPct val="150000"/>
              </a:lnSpc>
              <a:buAutoNum type="arabicPeriod"/>
            </a:pPr>
            <a:r>
              <a:rPr lang="en-US" sz="2400" b="1" dirty="0">
                <a:latin typeface="Arial" panose="020B0604020202020204" pitchFamily="34" charset="0"/>
                <a:cs typeface="Arial" panose="020B0604020202020204" pitchFamily="34" charset="0"/>
              </a:rPr>
              <a:t>Speed </a:t>
            </a:r>
            <a:r>
              <a:rPr lang="en-US" sz="2400" dirty="0">
                <a:latin typeface="Arial" panose="020B0604020202020204" pitchFamily="34" charset="0"/>
                <a:cs typeface="Arial" panose="020B0604020202020204" pitchFamily="34" charset="0"/>
              </a:rPr>
              <a:t>– Classify comments quickly (within 2 seconds).</a:t>
            </a:r>
          </a:p>
          <a:p>
            <a:pPr algn="just">
              <a:lnSpc>
                <a:spcPct val="150000"/>
              </a:lnSpc>
            </a:pPr>
            <a:r>
              <a:rPr lang="en-US" sz="2400" b="1" dirty="0">
                <a:latin typeface="Arial" panose="020B0604020202020204" pitchFamily="34" charset="0"/>
                <a:cs typeface="Arial" panose="020B0604020202020204" pitchFamily="34" charset="0"/>
              </a:rPr>
              <a:t>3.  Accuracy &amp; Fairness </a:t>
            </a:r>
            <a:r>
              <a:rPr lang="en-US" sz="2400" dirty="0">
                <a:latin typeface="Arial" panose="020B0604020202020204" pitchFamily="34" charset="0"/>
                <a:cs typeface="Arial" panose="020B0604020202020204" pitchFamily="34" charset="0"/>
              </a:rPr>
              <a:t>– Reduce false positives and bias.</a:t>
            </a:r>
          </a:p>
          <a:p>
            <a:pPr algn="just">
              <a:lnSpc>
                <a:spcPct val="150000"/>
              </a:lnSpc>
            </a:pPr>
            <a:r>
              <a:rPr lang="en-US" sz="2400" b="1" dirty="0">
                <a:latin typeface="Arial" panose="020B0604020202020204" pitchFamily="34" charset="0"/>
                <a:cs typeface="Arial" panose="020B0604020202020204" pitchFamily="34" charset="0"/>
              </a:rPr>
              <a:t>4. Security &amp; Privacy </a:t>
            </a:r>
            <a:r>
              <a:rPr lang="en-US" sz="2400" dirty="0">
                <a:latin typeface="Arial" panose="020B0604020202020204" pitchFamily="34" charset="0"/>
                <a:cs typeface="Arial" panose="020B0604020202020204" pitchFamily="34" charset="0"/>
              </a:rPr>
              <a:t>– Follow YouTube’s policies and protect user data.</a:t>
            </a:r>
          </a:p>
          <a:p>
            <a:pPr algn="just">
              <a:lnSpc>
                <a:spcPct val="150000"/>
              </a:lnSpc>
            </a:pPr>
            <a:r>
              <a:rPr lang="en-US" sz="2400" b="1" dirty="0">
                <a:latin typeface="Arial" panose="020B0604020202020204" pitchFamily="34" charset="0"/>
                <a:cs typeface="Arial" panose="020B0604020202020204" pitchFamily="34" charset="0"/>
              </a:rPr>
              <a:t>5. Usability </a:t>
            </a:r>
            <a:r>
              <a:rPr lang="en-US" sz="2400" dirty="0">
                <a:latin typeface="Arial" panose="020B0604020202020204" pitchFamily="34" charset="0"/>
                <a:cs typeface="Arial" panose="020B0604020202020204" pitchFamily="34" charset="0"/>
              </a:rPr>
              <a:t>– Make the system easy to use. </a:t>
            </a:r>
          </a:p>
          <a:p>
            <a:pPr algn="just">
              <a:lnSpc>
                <a:spcPct val="150000"/>
              </a:lnSpc>
            </a:pPr>
            <a:r>
              <a:rPr lang="en-US" sz="2400" b="1" dirty="0">
                <a:latin typeface="Arial" panose="020B0604020202020204" pitchFamily="34" charset="0"/>
                <a:cs typeface="Arial" panose="020B0604020202020204" pitchFamily="34" charset="0"/>
              </a:rPr>
              <a:t>6. Compliance </a:t>
            </a:r>
            <a:r>
              <a:rPr lang="en-US" sz="2400" dirty="0">
                <a:latin typeface="Arial" panose="020B0604020202020204" pitchFamily="34" charset="0"/>
                <a:cs typeface="Arial" panose="020B0604020202020204" pitchFamily="34" charset="0"/>
              </a:rPr>
              <a:t>– Follow legal and ethical guidelines (e.g., GDPR).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sp>
        <p:nvSpPr>
          <p:cNvPr id="5" name="Text 2"/>
          <p:cNvSpPr/>
          <p:nvPr/>
        </p:nvSpPr>
        <p:spPr>
          <a:xfrm>
            <a:off x="349569" y="323851"/>
            <a:ext cx="11199971" cy="789383"/>
          </a:xfrm>
          <a:prstGeom prst="rect">
            <a:avLst/>
          </a:prstGeom>
          <a:noFill/>
        </p:spPr>
        <p:txBody>
          <a:bodyPr wrap="none" rtlCol="0" anchor="t"/>
          <a:lstStyle/>
          <a:p>
            <a:pPr marL="0" indent="0">
              <a:lnSpc>
                <a:spcPts val="5470"/>
              </a:lnSpc>
              <a:buNone/>
            </a:pPr>
            <a:r>
              <a:rPr lang="en-US" sz="4375" b="1" dirty="0">
                <a:solidFill>
                  <a:srgbClr val="484237"/>
                </a:solidFill>
                <a:latin typeface="Arial" panose="020B0604020202020204" pitchFamily="34" charset="0"/>
                <a:ea typeface="Gelasio" pitchFamily="34" charset="-122"/>
                <a:cs typeface="Arial" panose="020B0604020202020204" pitchFamily="34" charset="0"/>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COMPUTATIONAL RESOURCES</a:t>
            </a:r>
            <a:endParaRPr lang="en-US" sz="4400" dirty="0">
              <a:latin typeface="Arial" panose="020B0604020202020204" pitchFamily="34" charset="0"/>
              <a:cs typeface="Arial" panose="020B0604020202020204" pitchFamily="34" charset="0"/>
            </a:endParaRPr>
          </a:p>
        </p:txBody>
      </p:sp>
      <p:sp>
        <p:nvSpPr>
          <p:cNvPr id="6" name="Shape 3"/>
          <p:cNvSpPr/>
          <p:nvPr/>
        </p:nvSpPr>
        <p:spPr>
          <a:xfrm>
            <a:off x="349569" y="2014538"/>
            <a:ext cx="5527356" cy="5643562"/>
          </a:xfrm>
          <a:prstGeom prst="roundRect">
            <a:avLst>
              <a:gd name="adj" fmla="val 4361"/>
            </a:avLst>
          </a:prstGeom>
          <a:solidFill>
            <a:srgbClr val="EFE7D6"/>
          </a:solidFill>
        </p:spPr>
      </p:sp>
      <p:sp>
        <p:nvSpPr>
          <p:cNvPr id="7" name="Text 4"/>
          <p:cNvSpPr/>
          <p:nvPr/>
        </p:nvSpPr>
        <p:spPr>
          <a:xfrm>
            <a:off x="4712970" y="2776537"/>
            <a:ext cx="3923468" cy="610434"/>
          </a:xfrm>
          <a:prstGeom prst="rect">
            <a:avLst/>
          </a:prstGeom>
          <a:noFill/>
        </p:spPr>
        <p:txBody>
          <a:bodyPr wrap="none" rtlCol="0" anchor="t"/>
          <a:lstStyle/>
          <a:p>
            <a:pPr marL="0" indent="0">
              <a:lnSpc>
                <a:spcPts val="2735"/>
              </a:lnSpc>
              <a:buNone/>
            </a:pPr>
            <a:endParaRPr lang="en-US" sz="3200" dirty="0"/>
          </a:p>
        </p:txBody>
      </p:sp>
      <p:sp>
        <p:nvSpPr>
          <p:cNvPr id="8" name="Text 5"/>
          <p:cNvSpPr/>
          <p:nvPr/>
        </p:nvSpPr>
        <p:spPr>
          <a:xfrm>
            <a:off x="4712970" y="3200400"/>
            <a:ext cx="4097774" cy="1805702"/>
          </a:xfrm>
          <a:prstGeom prst="rect">
            <a:avLst/>
          </a:prstGeom>
          <a:noFill/>
        </p:spPr>
        <p:txBody>
          <a:bodyPr wrap="square" rtlCol="0" anchor="t"/>
          <a:lstStyle/>
          <a:p>
            <a:pPr marL="0" indent="0">
              <a:lnSpc>
                <a:spcPts val="2800"/>
              </a:lnSpc>
              <a:buNone/>
            </a:pPr>
            <a:endParaRPr lang="en-US" sz="1750" dirty="0"/>
          </a:p>
        </p:txBody>
      </p:sp>
      <p:sp>
        <p:nvSpPr>
          <p:cNvPr id="10" name="Text 7"/>
          <p:cNvSpPr/>
          <p:nvPr/>
        </p:nvSpPr>
        <p:spPr>
          <a:xfrm>
            <a:off x="9477256" y="2393275"/>
            <a:ext cx="3170039" cy="347186"/>
          </a:xfrm>
          <a:prstGeom prst="rect">
            <a:avLst/>
          </a:prstGeom>
          <a:noFill/>
        </p:spPr>
        <p:txBody>
          <a:bodyPr wrap="none" rtlCol="0" anchor="t"/>
          <a:lstStyle/>
          <a:p>
            <a:pPr marL="0" indent="0">
              <a:lnSpc>
                <a:spcPts val="2735"/>
              </a:lnSpc>
              <a:buNone/>
            </a:pPr>
            <a:endParaRPr lang="en-US" sz="2185" dirty="0"/>
          </a:p>
        </p:txBody>
      </p:sp>
      <p:sp>
        <p:nvSpPr>
          <p:cNvPr id="11" name="Text 8"/>
          <p:cNvSpPr/>
          <p:nvPr/>
        </p:nvSpPr>
        <p:spPr>
          <a:xfrm>
            <a:off x="9477256" y="2873693"/>
            <a:ext cx="4097774" cy="1421606"/>
          </a:xfrm>
          <a:prstGeom prst="rect">
            <a:avLst/>
          </a:prstGeom>
          <a:noFill/>
        </p:spPr>
        <p:txBody>
          <a:bodyPr wrap="square" rtlCol="0" anchor="t"/>
          <a:lstStyle/>
          <a:p>
            <a:pPr marL="0" indent="0">
              <a:lnSpc>
                <a:spcPts val="2800"/>
              </a:lnSpc>
              <a:buNone/>
            </a:pPr>
            <a:endParaRPr lang="en-US" sz="1750" dirty="0"/>
          </a:p>
        </p:txBody>
      </p:sp>
      <p:sp>
        <p:nvSpPr>
          <p:cNvPr id="13" name="Text 10"/>
          <p:cNvSpPr/>
          <p:nvPr/>
        </p:nvSpPr>
        <p:spPr>
          <a:xfrm>
            <a:off x="4712970" y="5672614"/>
            <a:ext cx="3744397" cy="347186"/>
          </a:xfrm>
          <a:prstGeom prst="rect">
            <a:avLst/>
          </a:prstGeom>
          <a:noFill/>
        </p:spPr>
        <p:txBody>
          <a:bodyPr wrap="none" rtlCol="0" anchor="t"/>
          <a:lstStyle/>
          <a:p>
            <a:pPr marL="0" indent="0">
              <a:lnSpc>
                <a:spcPts val="2735"/>
              </a:lnSpc>
              <a:buNone/>
            </a:pPr>
            <a:endParaRPr lang="en-US" sz="2185" dirty="0"/>
          </a:p>
        </p:txBody>
      </p:sp>
      <p:sp>
        <p:nvSpPr>
          <p:cNvPr id="14" name="Text 11"/>
          <p:cNvSpPr/>
          <p:nvPr/>
        </p:nvSpPr>
        <p:spPr>
          <a:xfrm>
            <a:off x="4712970" y="6153031"/>
            <a:ext cx="8862060" cy="710803"/>
          </a:xfrm>
          <a:prstGeom prst="rect">
            <a:avLst/>
          </a:prstGeom>
          <a:noFill/>
        </p:spPr>
        <p:txBody>
          <a:bodyPr wrap="square" rtlCol="0" anchor="t"/>
          <a:lstStyle/>
          <a:p>
            <a:pPr marL="0" indent="0">
              <a:lnSpc>
                <a:spcPts val="2800"/>
              </a:lnSpc>
              <a:buNone/>
            </a:pPr>
            <a:endParaRPr lang="en-US" sz="1750" dirty="0"/>
          </a:p>
        </p:txBody>
      </p:sp>
      <p:sp>
        <p:nvSpPr>
          <p:cNvPr id="15" name="TextBox 14"/>
          <p:cNvSpPr txBox="1"/>
          <p:nvPr/>
        </p:nvSpPr>
        <p:spPr>
          <a:xfrm>
            <a:off x="492760" y="2233295"/>
            <a:ext cx="5210175" cy="5180965"/>
          </a:xfrm>
          <a:prstGeom prst="rect">
            <a:avLst/>
          </a:prstGeom>
          <a:noFill/>
        </p:spPr>
        <p:txBody>
          <a:bodyPr wrap="square" rtlCol="0">
            <a:noAutofit/>
          </a:bodyPr>
          <a:lstStyle/>
          <a:p>
            <a:pPr marL="457200" indent="-457200">
              <a:lnSpc>
                <a:spcPct val="115000"/>
              </a:lnSpc>
              <a:spcAft>
                <a:spcPts val="1000"/>
              </a:spcAft>
              <a:buFont typeface="Wingdings" panose="05000000000000000000" pitchFamily="2" charset="2"/>
              <a:buChar char="q"/>
            </a:pPr>
            <a:r>
              <a:rPr lang="en-IN" sz="3000" b="1" dirty="0">
                <a:effectLst/>
                <a:latin typeface="Arial" panose="020B0604020202020204" pitchFamily="34" charset="0"/>
                <a:ea typeface="Calibri" panose="020F0502020204030204" pitchFamily="34" charset="0"/>
                <a:cs typeface="Arial" panose="020B0604020202020204" pitchFamily="34" charset="0"/>
              </a:rPr>
              <a:t>Hardware Requirements</a:t>
            </a:r>
            <a:r>
              <a:rPr lang="en-IN" sz="3000" dirty="0">
                <a:effectLst/>
                <a:latin typeface="Arial" panose="020B0604020202020204" pitchFamily="34" charset="0"/>
                <a:ea typeface="Calibri" panose="020F0502020204030204" pitchFamily="34" charset="0"/>
                <a:cs typeface="Arial" panose="020B0604020202020204" pitchFamily="34" charset="0"/>
              </a:rPr>
              <a:t>:</a:t>
            </a:r>
          </a:p>
          <a:p>
            <a:pPr>
              <a:lnSpc>
                <a:spcPct val="115000"/>
              </a:lnSpc>
              <a:spcAft>
                <a:spcPts val="1000"/>
              </a:spcAft>
            </a:pPr>
            <a:endParaRPr lang="en-IN" b="1" dirty="0"/>
          </a:p>
          <a:p>
            <a:pPr>
              <a:lnSpc>
                <a:spcPct val="115000"/>
              </a:lnSpc>
              <a:spcAft>
                <a:spcPts val="1000"/>
              </a:spcAft>
            </a:pPr>
            <a:r>
              <a:rPr lang="en-IN" b="1" dirty="0"/>
              <a:t>Processor: </a:t>
            </a:r>
            <a:r>
              <a:rPr lang="en-IN" dirty="0"/>
              <a:t>Intel Core i5 or equivalent (minimum).</a:t>
            </a:r>
          </a:p>
          <a:p>
            <a:pPr>
              <a:lnSpc>
                <a:spcPct val="115000"/>
              </a:lnSpc>
              <a:spcAft>
                <a:spcPts val="1000"/>
              </a:spcAft>
            </a:pPr>
            <a:endParaRPr lang="en-IN" dirty="0"/>
          </a:p>
          <a:p>
            <a:pPr>
              <a:lnSpc>
                <a:spcPct val="115000"/>
              </a:lnSpc>
              <a:spcAft>
                <a:spcPts val="1000"/>
              </a:spcAft>
            </a:pPr>
            <a:r>
              <a:rPr lang="en-IN" b="1" dirty="0"/>
              <a:t>RAM: </a:t>
            </a:r>
            <a:r>
              <a:rPr lang="en-IN" dirty="0"/>
              <a:t>8 GB, 16 GB or higher recommended for training models.      </a:t>
            </a:r>
          </a:p>
          <a:p>
            <a:pPr>
              <a:lnSpc>
                <a:spcPct val="115000"/>
              </a:lnSpc>
              <a:spcAft>
                <a:spcPts val="1000"/>
              </a:spcAft>
            </a:pPr>
            <a:endParaRPr lang="en-IN" dirty="0"/>
          </a:p>
          <a:p>
            <a:pPr>
              <a:lnSpc>
                <a:spcPct val="115000"/>
              </a:lnSpc>
              <a:spcAft>
                <a:spcPts val="1000"/>
              </a:spcAft>
            </a:pPr>
            <a:r>
              <a:rPr lang="en-IN" b="1" dirty="0"/>
              <a:t>Storage: </a:t>
            </a:r>
            <a:r>
              <a:rPr lang="en-IN" dirty="0"/>
              <a:t>At least 256 GB SSD for faster data access.</a:t>
            </a:r>
          </a:p>
          <a:p>
            <a:pPr>
              <a:lnSpc>
                <a:spcPct val="115000"/>
              </a:lnSpc>
              <a:spcAft>
                <a:spcPts val="1000"/>
              </a:spcAft>
            </a:pPr>
            <a:r>
              <a:rPr lang="en-IN" b="1" dirty="0"/>
              <a:t> </a:t>
            </a:r>
            <a:endParaRPr lang="en-IN" sz="1600" dirty="0">
              <a:effectLst/>
              <a:latin typeface="Arial" panose="020B0604020202020204" pitchFamily="34" charset="0"/>
              <a:ea typeface="Calibri" panose="020F0502020204030204" pitchFamily="34" charset="0"/>
              <a:cs typeface="Arial" panose="020B0604020202020204" pitchFamily="34" charset="0"/>
            </a:endParaRPr>
          </a:p>
        </p:txBody>
      </p:sp>
      <p:sp>
        <p:nvSpPr>
          <p:cNvPr id="18" name="Shape 3"/>
          <p:cNvSpPr/>
          <p:nvPr/>
        </p:nvSpPr>
        <p:spPr>
          <a:xfrm>
            <a:off x="6222684" y="1581150"/>
            <a:ext cx="7880031" cy="6510338"/>
          </a:xfrm>
          <a:prstGeom prst="roundRect">
            <a:avLst>
              <a:gd name="adj" fmla="val 3744"/>
            </a:avLst>
          </a:prstGeom>
          <a:solidFill>
            <a:srgbClr val="EFE7D6"/>
          </a:solidFill>
        </p:spPr>
        <p:txBody>
          <a:bodyPr/>
          <a:lstStyle/>
          <a:p>
            <a:pPr marL="457200" indent="-457200">
              <a:lnSpc>
                <a:spcPct val="115000"/>
              </a:lnSpc>
              <a:spcAft>
                <a:spcPts val="1000"/>
              </a:spcAft>
              <a:buFont typeface="Wingdings" panose="05000000000000000000" pitchFamily="2" charset="2"/>
              <a:buChar char="q"/>
            </a:pPr>
            <a:r>
              <a:rPr lang="en-IN" sz="3000" b="1" dirty="0">
                <a:effectLst/>
                <a:latin typeface="Arial" panose="020B0604020202020204" pitchFamily="34" charset="0"/>
                <a:ea typeface="Calibri" panose="020F0502020204030204" pitchFamily="34" charset="0"/>
                <a:cs typeface="Arial" panose="020B0604020202020204" pitchFamily="34" charset="0"/>
              </a:rPr>
              <a:t>Software Requirements:</a:t>
            </a:r>
          </a:p>
          <a:p>
            <a:pPr>
              <a:lnSpc>
                <a:spcPct val="115000"/>
              </a:lnSpc>
              <a:spcAft>
                <a:spcPts val="1000"/>
              </a:spcAft>
            </a:pPr>
            <a:r>
              <a:rPr lang="en-IN" b="1" dirty="0"/>
              <a:t>1.Operating System </a:t>
            </a:r>
          </a:p>
          <a:p>
            <a:pPr>
              <a:lnSpc>
                <a:spcPct val="115000"/>
              </a:lnSpc>
              <a:spcAft>
                <a:spcPts val="1000"/>
              </a:spcAft>
            </a:pPr>
            <a:r>
              <a:rPr lang="en-IN" dirty="0"/>
              <a:t>Windows 10 or later, macOS, or Linux (Ubuntu recommended for deployment) </a:t>
            </a:r>
          </a:p>
          <a:p>
            <a:pPr>
              <a:lnSpc>
                <a:spcPct val="115000"/>
              </a:lnSpc>
              <a:spcAft>
                <a:spcPts val="1000"/>
              </a:spcAft>
            </a:pPr>
            <a:r>
              <a:rPr lang="en-IN" b="1" dirty="0"/>
              <a:t>2.Programming Language </a:t>
            </a:r>
          </a:p>
          <a:p>
            <a:pPr>
              <a:lnSpc>
                <a:spcPct val="115000"/>
              </a:lnSpc>
              <a:spcAft>
                <a:spcPts val="1000"/>
              </a:spcAft>
            </a:pPr>
            <a:r>
              <a:rPr lang="en-IN" dirty="0"/>
              <a:t>Python 3.8+ for scripting and model development.   </a:t>
            </a:r>
          </a:p>
          <a:p>
            <a:pPr>
              <a:lnSpc>
                <a:spcPct val="115000"/>
              </a:lnSpc>
              <a:spcAft>
                <a:spcPts val="1000"/>
              </a:spcAft>
            </a:pPr>
            <a:r>
              <a:rPr lang="en-IN" b="1" dirty="0"/>
              <a:t>3.Libraries and Frameworks </a:t>
            </a:r>
          </a:p>
          <a:p>
            <a:pPr>
              <a:lnSpc>
                <a:spcPct val="115000"/>
              </a:lnSpc>
              <a:spcAft>
                <a:spcPts val="1000"/>
              </a:spcAft>
            </a:pPr>
            <a:r>
              <a:rPr lang="en-IN" dirty="0"/>
              <a:t>NLP: NLTK, </a:t>
            </a:r>
            <a:r>
              <a:rPr lang="en-IN" dirty="0" err="1"/>
              <a:t>TextBlob</a:t>
            </a:r>
            <a:r>
              <a:rPr lang="en-IN" dirty="0"/>
              <a:t>. </a:t>
            </a:r>
          </a:p>
          <a:p>
            <a:pPr>
              <a:lnSpc>
                <a:spcPct val="115000"/>
              </a:lnSpc>
              <a:spcAft>
                <a:spcPts val="1000"/>
              </a:spcAft>
            </a:pPr>
            <a:r>
              <a:rPr lang="en-IN" dirty="0"/>
              <a:t>Data Processing: Pandas, NumPy. </a:t>
            </a:r>
          </a:p>
          <a:p>
            <a:pPr>
              <a:lnSpc>
                <a:spcPct val="115000"/>
              </a:lnSpc>
              <a:spcAft>
                <a:spcPts val="1000"/>
              </a:spcAft>
            </a:pPr>
            <a:r>
              <a:rPr lang="en-IN" b="1" dirty="0"/>
              <a:t>4.Development Tools </a:t>
            </a:r>
          </a:p>
          <a:p>
            <a:pPr>
              <a:lnSpc>
                <a:spcPct val="115000"/>
              </a:lnSpc>
              <a:spcAft>
                <a:spcPts val="1000"/>
              </a:spcAft>
            </a:pPr>
            <a:r>
              <a:rPr lang="en-IN" dirty="0" err="1"/>
              <a:t>Jupyter</a:t>
            </a:r>
            <a:r>
              <a:rPr lang="en-IN" dirty="0"/>
              <a:t> Notebook or VS Code for coding and debugging.</a:t>
            </a:r>
          </a:p>
          <a:p>
            <a:pPr>
              <a:lnSpc>
                <a:spcPct val="115000"/>
              </a:lnSpc>
              <a:spcAft>
                <a:spcPts val="1000"/>
              </a:spcAft>
            </a:pPr>
            <a:r>
              <a:rPr lang="en-IN" b="1" dirty="0"/>
              <a:t> 5.Deployment Tools </a:t>
            </a:r>
          </a:p>
          <a:p>
            <a:pPr>
              <a:lnSpc>
                <a:spcPct val="115000"/>
              </a:lnSpc>
              <a:spcAft>
                <a:spcPts val="1000"/>
              </a:spcAft>
            </a:pPr>
            <a:r>
              <a:rPr lang="en-IN" dirty="0"/>
              <a:t>Flask or </a:t>
            </a:r>
            <a:r>
              <a:rPr lang="en-IN" dirty="0" err="1"/>
              <a:t>FastAPI</a:t>
            </a:r>
            <a:r>
              <a:rPr lang="en-IN" dirty="0"/>
              <a:t> for building APIs. </a:t>
            </a:r>
          </a:p>
          <a:p>
            <a:pPr>
              <a:lnSpc>
                <a:spcPct val="115000"/>
              </a:lnSpc>
              <a:spcAft>
                <a:spcPts val="1000"/>
              </a:spcAft>
            </a:pPr>
            <a:r>
              <a:rPr lang="en-IN" b="1" dirty="0"/>
              <a:t>6.Cloud Platforms (Optional) </a:t>
            </a:r>
          </a:p>
          <a:p>
            <a:pPr>
              <a:lnSpc>
                <a:spcPct val="115000"/>
              </a:lnSpc>
              <a:spcAft>
                <a:spcPts val="1000"/>
              </a:spcAft>
            </a:pPr>
            <a:r>
              <a:rPr lang="en-IN" dirty="0"/>
              <a:t>AWS, Google Cloud, or Azure for hosting and scaling.</a:t>
            </a:r>
            <a:endParaRPr lang="en-IN" b="1" dirty="0">
              <a:effectLst/>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93022"/>
            <a:ext cx="14630400" cy="8322621"/>
          </a:xfrm>
          <a:prstGeom prst="rect">
            <a:avLst/>
          </a:prstGeom>
          <a:solidFill>
            <a:srgbClr val="F9F6F0"/>
          </a:solidFill>
          <a:ln/>
        </p:spPr>
      </p:sp>
      <p:sp>
        <p:nvSpPr>
          <p:cNvPr id="5" name="Text 2"/>
          <p:cNvSpPr/>
          <p:nvPr/>
        </p:nvSpPr>
        <p:spPr>
          <a:xfrm>
            <a:off x="386110" y="762035"/>
            <a:ext cx="12006647" cy="1181099"/>
          </a:xfrm>
          <a:prstGeom prst="rect">
            <a:avLst/>
          </a:prstGeom>
          <a:noFill/>
          <a:ln/>
        </p:spPr>
        <p:txBody>
          <a:bodyPr wrap="none" rtlCol="0" anchor="t"/>
          <a:lstStyle/>
          <a:p>
            <a:pPr marL="0" indent="0">
              <a:lnSpc>
                <a:spcPts val="7545"/>
              </a:lnSpc>
              <a:buNone/>
            </a:pPr>
            <a:r>
              <a:rPr lang="en-US" sz="4400" b="1" dirty="0">
                <a:latin typeface="Arial" panose="020B0604020202020204" pitchFamily="34" charset="0"/>
                <a:cs typeface="Arial" panose="020B0604020202020204" pitchFamily="34" charset="0"/>
              </a:rPr>
              <a:t>SOFTWARE ARCHITECTURE </a:t>
            </a:r>
          </a:p>
        </p:txBody>
      </p:sp>
      <p:sp>
        <p:nvSpPr>
          <p:cNvPr id="6" name="Text 3"/>
          <p:cNvSpPr/>
          <p:nvPr/>
        </p:nvSpPr>
        <p:spPr>
          <a:xfrm>
            <a:off x="748060" y="2472744"/>
            <a:ext cx="13341427" cy="5513029"/>
          </a:xfrm>
          <a:prstGeom prst="rect">
            <a:avLst/>
          </a:prstGeom>
          <a:noFill/>
          <a:ln/>
        </p:spPr>
        <p:txBody>
          <a:bodyPr wrap="square" rtlCol="0" anchor="t"/>
          <a:lstStyle/>
          <a:p>
            <a:pPr algn="just">
              <a:lnSpc>
                <a:spcPct val="150000"/>
              </a:lnSpc>
            </a:pP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AFEC8BD6-C445-491C-84D1-8F61BBA9B31F}"/>
              </a:ext>
            </a:extLst>
          </p:cNvPr>
          <p:cNvPicPr>
            <a:picLocks noChangeAspect="1"/>
          </p:cNvPicPr>
          <p:nvPr/>
        </p:nvPicPr>
        <p:blipFill>
          <a:blip r:embed="rId3"/>
          <a:stretch>
            <a:fillRect/>
          </a:stretch>
        </p:blipFill>
        <p:spPr>
          <a:xfrm>
            <a:off x="897624" y="2304294"/>
            <a:ext cx="12603334" cy="5163271"/>
          </a:xfrm>
          <a:prstGeom prst="rect">
            <a:avLst/>
          </a:prstGeom>
        </p:spPr>
      </p:pic>
    </p:spTree>
    <p:extLst>
      <p:ext uri="{BB962C8B-B14F-4D97-AF65-F5344CB8AC3E}">
        <p14:creationId xmlns:p14="http://schemas.microsoft.com/office/powerpoint/2010/main" val="3665083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361950" y="-333375"/>
            <a:ext cx="14992350" cy="8562975"/>
          </a:xfrm>
          <a:prstGeom prst="rect">
            <a:avLst/>
          </a:prstGeom>
          <a:solidFill>
            <a:srgbClr val="F9F6F0"/>
          </a:solidFill>
          <a:ln/>
        </p:spPr>
        <p:txBody>
          <a:bodyPr/>
          <a:lstStyle/>
          <a:p>
            <a:endParaRPr lang="en-IN" dirty="0"/>
          </a:p>
        </p:txBody>
      </p:sp>
      <p:sp>
        <p:nvSpPr>
          <p:cNvPr id="6" name="Text 3"/>
          <p:cNvSpPr/>
          <p:nvPr/>
        </p:nvSpPr>
        <p:spPr>
          <a:xfrm>
            <a:off x="833199" y="1390651"/>
            <a:ext cx="7477601" cy="6838950"/>
          </a:xfrm>
          <a:prstGeom prst="rect">
            <a:avLst/>
          </a:prstGeom>
          <a:noFill/>
          <a:ln/>
        </p:spPr>
        <p:txBody>
          <a:bodyPr wrap="square" rtlCol="0" anchor="t"/>
          <a:lstStyle/>
          <a:p>
            <a:pPr>
              <a:lnSpc>
                <a:spcPts val="2799"/>
              </a:lnSpc>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ts val="2799"/>
              </a:lnSpc>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ts val="2799"/>
              </a:lnSpc>
              <a:buFont typeface="Arial" panose="020B0604020202020204" pitchFamily="34" charset="0"/>
              <a:buChar char="•"/>
            </a:pPr>
            <a:endParaRPr lang="en-US" sz="1750" dirty="0"/>
          </a:p>
        </p:txBody>
      </p:sp>
      <p:sp>
        <p:nvSpPr>
          <p:cNvPr id="4" name="Title 3">
            <a:extLst>
              <a:ext uri="{FF2B5EF4-FFF2-40B4-BE49-F238E27FC236}">
                <a16:creationId xmlns:a16="http://schemas.microsoft.com/office/drawing/2014/main" id="{87A1871A-9C39-8144-3177-99E66103D428}"/>
              </a:ext>
            </a:extLst>
          </p:cNvPr>
          <p:cNvSpPr>
            <a:spLocks noGrp="1"/>
          </p:cNvSpPr>
          <p:nvPr>
            <p:ph type="title"/>
          </p:nvPr>
        </p:nvSpPr>
        <p:spPr>
          <a:xfrm>
            <a:off x="178118" y="295275"/>
            <a:ext cx="12618720" cy="1590676"/>
          </a:xfrm>
        </p:spPr>
        <p:txBody>
          <a:bodyPr>
            <a:normAutofit/>
          </a:bodyPr>
          <a:lstStyle/>
          <a:p>
            <a:r>
              <a:rPr lang="en-IN" sz="4400" b="1" dirty="0">
                <a:latin typeface="Arial" panose="020B0604020202020204" pitchFamily="34" charset="0"/>
                <a:cs typeface="Arial" panose="020B0604020202020204" pitchFamily="34" charset="0"/>
              </a:rPr>
              <a:t>TECHNICAL ARCHITECTURE</a:t>
            </a:r>
          </a:p>
        </p:txBody>
      </p:sp>
      <p:pic>
        <p:nvPicPr>
          <p:cNvPr id="11" name="Content Placeholder 10">
            <a:extLst>
              <a:ext uri="{FF2B5EF4-FFF2-40B4-BE49-F238E27FC236}">
                <a16:creationId xmlns:a16="http://schemas.microsoft.com/office/drawing/2014/main" id="{40DA7FE0-4D6F-27DD-2103-2BEC9618DA28}"/>
              </a:ext>
            </a:extLst>
          </p:cNvPr>
          <p:cNvPicPr>
            <a:picLocks noGrp="1" noChangeAspect="1"/>
          </p:cNvPicPr>
          <p:nvPr>
            <p:ph idx="1"/>
          </p:nvPr>
        </p:nvPicPr>
        <p:blipFill>
          <a:blip r:embed="rId3"/>
          <a:srcRect t="18067"/>
          <a:stretch/>
        </p:blipFill>
        <p:spPr>
          <a:xfrm>
            <a:off x="178118" y="2581276"/>
            <a:ext cx="13352383" cy="371475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30" y="0"/>
            <a:ext cx="14630340" cy="8229600"/>
          </a:xfrm>
          <a:prstGeom prst="rect">
            <a:avLst/>
          </a:prstGeom>
          <a:solidFill>
            <a:srgbClr val="F9F6F0"/>
          </a:solidFill>
          <a:ln/>
        </p:spPr>
        <p:txBody>
          <a:bodyPr/>
          <a:lstStyle/>
          <a:p>
            <a:pPr marL="0" indent="0">
              <a:lnSpc>
                <a:spcPts val="5468"/>
              </a:lnSpc>
              <a:buNone/>
            </a:pPr>
            <a:endParaRPr lang="en-US" sz="1800" b="1" dirty="0">
              <a:solidFill>
                <a:srgbClr val="484237"/>
              </a:solidFill>
              <a:latin typeface="Gelasio" pitchFamily="34" charset="0"/>
              <a:ea typeface="Gelasio" pitchFamily="34" charset="-122"/>
              <a:cs typeface="Gelasio" pitchFamily="34" charset="-120"/>
            </a:endParaRPr>
          </a:p>
        </p:txBody>
      </p:sp>
      <p:sp>
        <p:nvSpPr>
          <p:cNvPr id="4" name="Text 2"/>
          <p:cNvSpPr/>
          <p:nvPr/>
        </p:nvSpPr>
        <p:spPr>
          <a:xfrm>
            <a:off x="702855" y="609601"/>
            <a:ext cx="9456420" cy="741550"/>
          </a:xfrm>
          <a:prstGeom prst="rect">
            <a:avLst/>
          </a:prstGeom>
          <a:noFill/>
          <a:ln/>
        </p:spPr>
        <p:txBody>
          <a:bodyPr wrap="none" rtlCol="0" anchor="t"/>
          <a:lstStyle/>
          <a:p>
            <a:pPr marL="0" indent="0">
              <a:lnSpc>
                <a:spcPts val="5468"/>
              </a:lnSpc>
              <a:buNone/>
            </a:pPr>
            <a:r>
              <a:rPr lang="en-US" sz="4400" b="1" dirty="0">
                <a:latin typeface="Arial" panose="020B0604020202020204" pitchFamily="34" charset="0"/>
                <a:cs typeface="Arial" panose="020B0604020202020204" pitchFamily="34" charset="0"/>
              </a:rPr>
              <a:t>PROCESS MODEL</a:t>
            </a:r>
          </a:p>
        </p:txBody>
      </p:sp>
      <p:sp>
        <p:nvSpPr>
          <p:cNvPr id="6" name="Text 3"/>
          <p:cNvSpPr/>
          <p:nvPr/>
        </p:nvSpPr>
        <p:spPr>
          <a:xfrm>
            <a:off x="2037993" y="5372101"/>
            <a:ext cx="2777490" cy="400048"/>
          </a:xfrm>
          <a:prstGeom prst="rect">
            <a:avLst/>
          </a:prstGeom>
          <a:noFill/>
          <a:ln/>
        </p:spPr>
        <p:txBody>
          <a:bodyPr wrap="none" rtlCol="0" anchor="t"/>
          <a:lstStyle/>
          <a:p>
            <a:pPr marL="0" indent="0" algn="l">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7" name="Text 4"/>
          <p:cNvSpPr/>
          <p:nvPr/>
        </p:nvSpPr>
        <p:spPr>
          <a:xfrm>
            <a:off x="702855" y="4958385"/>
            <a:ext cx="11689158" cy="3422381"/>
          </a:xfrm>
          <a:prstGeom prst="rect">
            <a:avLst/>
          </a:prstGeom>
          <a:noFill/>
          <a:ln/>
        </p:spPr>
        <p:txBody>
          <a:bodyPr wrap="square" rtlCol="0" anchor="t"/>
          <a:lstStyle/>
          <a:p>
            <a:pPr algn="just">
              <a:lnSpc>
                <a:spcPct val="150000"/>
              </a:lnSpc>
              <a:spcAft>
                <a:spcPts val="800"/>
              </a:spcAft>
            </a:pP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sp>
        <p:nvSpPr>
          <p:cNvPr id="9" name="Text 5"/>
          <p:cNvSpPr/>
          <p:nvPr/>
        </p:nvSpPr>
        <p:spPr>
          <a:xfrm>
            <a:off x="5467350" y="5372101"/>
            <a:ext cx="2977277" cy="400048"/>
          </a:xfrm>
          <a:prstGeom prst="rect">
            <a:avLst/>
          </a:prstGeom>
          <a:noFill/>
          <a:ln/>
        </p:spPr>
        <p:txBody>
          <a:bodyPr wrap="none" rtlCol="0" anchor="t"/>
          <a:lstStyle/>
          <a:p>
            <a:pPr marL="0" indent="0" algn="l">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10" name="Text 6"/>
          <p:cNvSpPr/>
          <p:nvPr/>
        </p:nvSpPr>
        <p:spPr>
          <a:xfrm>
            <a:off x="5667137" y="5895975"/>
            <a:ext cx="3296007" cy="2120067"/>
          </a:xfrm>
          <a:prstGeom prst="rect">
            <a:avLst/>
          </a:prstGeom>
          <a:noFill/>
          <a:ln/>
        </p:spPr>
        <p:txBody>
          <a:bodyPr wrap="square" rtlCol="0" anchor="t"/>
          <a:lstStyle/>
          <a:p>
            <a:pPr marL="0" indent="0" algn="l">
              <a:lnSpc>
                <a:spcPts val="2799"/>
              </a:lnSpc>
              <a:buNone/>
            </a:pPr>
            <a:endParaRPr lang="en-US" sz="1750" dirty="0"/>
          </a:p>
        </p:txBody>
      </p:sp>
      <p:sp>
        <p:nvSpPr>
          <p:cNvPr id="12" name="Text 7"/>
          <p:cNvSpPr/>
          <p:nvPr/>
        </p:nvSpPr>
        <p:spPr>
          <a:xfrm>
            <a:off x="9296400" y="5372100"/>
            <a:ext cx="2777490" cy="400049"/>
          </a:xfrm>
          <a:prstGeom prst="rect">
            <a:avLst/>
          </a:prstGeom>
          <a:noFill/>
          <a:ln/>
        </p:spPr>
        <p:txBody>
          <a:bodyPr wrap="none" rtlCol="0" anchor="t"/>
          <a:lstStyle/>
          <a:p>
            <a:pPr marL="0" indent="0" algn="l">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13" name="Text 8"/>
          <p:cNvSpPr/>
          <p:nvPr/>
        </p:nvSpPr>
        <p:spPr>
          <a:xfrm>
            <a:off x="9296400" y="5895976"/>
            <a:ext cx="3296007" cy="1724023"/>
          </a:xfrm>
          <a:prstGeom prst="rect">
            <a:avLst/>
          </a:prstGeom>
          <a:noFill/>
          <a:ln/>
        </p:spPr>
        <p:txBody>
          <a:bodyPr wrap="square" rtlCol="0" anchor="t"/>
          <a:lstStyle/>
          <a:p>
            <a:pPr marL="0" indent="0" algn="l">
              <a:lnSpc>
                <a:spcPts val="2799"/>
              </a:lnSpc>
              <a:buNone/>
            </a:pPr>
            <a:endParaRPr lang="en-US" sz="1750" dirty="0"/>
          </a:p>
        </p:txBody>
      </p:sp>
      <p:pic>
        <p:nvPicPr>
          <p:cNvPr id="5" name="Picture 4">
            <a:extLst>
              <a:ext uri="{FF2B5EF4-FFF2-40B4-BE49-F238E27FC236}">
                <a16:creationId xmlns:a16="http://schemas.microsoft.com/office/drawing/2014/main" id="{774BABBE-841A-4ABC-A768-878A37B72993}"/>
              </a:ext>
            </a:extLst>
          </p:cNvPr>
          <p:cNvPicPr>
            <a:picLocks noChangeAspect="1"/>
          </p:cNvPicPr>
          <p:nvPr/>
        </p:nvPicPr>
        <p:blipFill rotWithShape="1">
          <a:blip r:embed="rId3"/>
          <a:srcRect t="11207"/>
          <a:stretch/>
        </p:blipFill>
        <p:spPr>
          <a:xfrm>
            <a:off x="1498809" y="2112134"/>
            <a:ext cx="11920977" cy="5903907"/>
          </a:xfrm>
          <a:prstGeom prst="rect">
            <a:avLst/>
          </a:prstGeom>
        </p:spPr>
      </p:pic>
      <p:sp>
        <p:nvSpPr>
          <p:cNvPr id="11" name="TextBox 10">
            <a:extLst>
              <a:ext uri="{FF2B5EF4-FFF2-40B4-BE49-F238E27FC236}">
                <a16:creationId xmlns:a16="http://schemas.microsoft.com/office/drawing/2014/main" id="{DC02E077-5108-437D-9F8B-5D12868CF379}"/>
              </a:ext>
            </a:extLst>
          </p:cNvPr>
          <p:cNvSpPr txBox="1"/>
          <p:nvPr/>
        </p:nvSpPr>
        <p:spPr>
          <a:xfrm>
            <a:off x="1498809" y="1515747"/>
            <a:ext cx="7696155" cy="461665"/>
          </a:xfrm>
          <a:prstGeom prst="rect">
            <a:avLst/>
          </a:prstGeom>
          <a:noFill/>
        </p:spPr>
        <p:txBody>
          <a:bodyPr wrap="square" rtlCol="0">
            <a:spAutoFit/>
          </a:bodyPr>
          <a:lstStyle/>
          <a:p>
            <a:r>
              <a:rPr lang="en-US" sz="2400" dirty="0"/>
              <a:t>Waterfall</a:t>
            </a:r>
            <a:r>
              <a:rPr lang="en-US" dirty="0"/>
              <a:t> </a:t>
            </a:r>
            <a:r>
              <a:rPr lang="en-US" sz="2400" dirty="0"/>
              <a:t>Model:</a:t>
            </a:r>
            <a:endParaRPr lang="en-I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28636" y="-115557"/>
            <a:ext cx="14659036" cy="8734425"/>
          </a:xfrm>
          <a:prstGeom prst="rect">
            <a:avLst/>
          </a:prstGeom>
          <a:solidFill>
            <a:srgbClr val="F9F6F0"/>
          </a:solidFill>
          <a:ln/>
        </p:spPr>
      </p:sp>
      <p:sp>
        <p:nvSpPr>
          <p:cNvPr id="4" name="Text 2"/>
          <p:cNvSpPr/>
          <p:nvPr/>
        </p:nvSpPr>
        <p:spPr>
          <a:xfrm>
            <a:off x="742174" y="339319"/>
            <a:ext cx="9183413" cy="869792"/>
          </a:xfrm>
          <a:prstGeom prst="rect">
            <a:avLst/>
          </a:prstGeom>
          <a:noFill/>
          <a:ln/>
        </p:spPr>
        <p:txBody>
          <a:bodyPr wrap="none" rtlCol="0" anchor="t"/>
          <a:lstStyle/>
          <a:p>
            <a:pPr marL="0" indent="0">
              <a:lnSpc>
                <a:spcPts val="5468"/>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USE CASE DIAGRAM</a:t>
            </a:r>
          </a:p>
          <a:p>
            <a:pPr marL="0" indent="0">
              <a:lnSpc>
                <a:spcPts val="5468"/>
              </a:lnSpc>
              <a:buNone/>
            </a:pPr>
            <a:endParaRPr lang="en-US" sz="4400" dirty="0">
              <a:latin typeface="Arial" panose="020B0604020202020204" pitchFamily="34" charset="0"/>
              <a:cs typeface="Arial" panose="020B0604020202020204" pitchFamily="34" charset="0"/>
            </a:endParaRPr>
          </a:p>
        </p:txBody>
      </p:sp>
      <p:sp>
        <p:nvSpPr>
          <p:cNvPr id="6" name="Text 3"/>
          <p:cNvSpPr/>
          <p:nvPr/>
        </p:nvSpPr>
        <p:spPr>
          <a:xfrm>
            <a:off x="2037993" y="5476875"/>
            <a:ext cx="3295887" cy="407192"/>
          </a:xfrm>
          <a:prstGeom prst="rect">
            <a:avLst/>
          </a:prstGeom>
          <a:noFill/>
          <a:ln/>
        </p:spPr>
        <p:txBody>
          <a:bodyPr wrap="square" rtlCol="0" anchor="t"/>
          <a:lstStyle/>
          <a:p>
            <a:pPr marL="0" indent="0" algn="l">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7" name="Text 4"/>
          <p:cNvSpPr/>
          <p:nvPr/>
        </p:nvSpPr>
        <p:spPr>
          <a:xfrm>
            <a:off x="2037993" y="5876924"/>
            <a:ext cx="3295888" cy="2327553"/>
          </a:xfrm>
          <a:prstGeom prst="rect">
            <a:avLst/>
          </a:prstGeom>
          <a:noFill/>
          <a:ln/>
        </p:spPr>
        <p:txBody>
          <a:bodyPr wrap="square" rtlCol="0" anchor="t"/>
          <a:lstStyle/>
          <a:p>
            <a:pPr marL="0" indent="0" algn="l">
              <a:lnSpc>
                <a:spcPct val="150000"/>
              </a:lnSpc>
              <a:buNone/>
            </a:pPr>
            <a:endParaRPr lang="en-US" sz="1750" dirty="0">
              <a:latin typeface="Times New Roman" panose="02020603050405020304" pitchFamily="18" charset="0"/>
              <a:cs typeface="Times New Roman" panose="02020603050405020304" pitchFamily="18" charset="0"/>
            </a:endParaRPr>
          </a:p>
        </p:txBody>
      </p:sp>
      <p:sp>
        <p:nvSpPr>
          <p:cNvPr id="9" name="Text 5"/>
          <p:cNvSpPr/>
          <p:nvPr/>
        </p:nvSpPr>
        <p:spPr>
          <a:xfrm>
            <a:off x="6010275" y="5476875"/>
            <a:ext cx="2875121" cy="407192"/>
          </a:xfrm>
          <a:prstGeom prst="rect">
            <a:avLst/>
          </a:prstGeom>
          <a:noFill/>
          <a:ln/>
        </p:spPr>
        <p:txBody>
          <a:bodyPr wrap="none" rtlCol="0" anchor="t"/>
          <a:lstStyle/>
          <a:p>
            <a:pPr marL="0" indent="0" algn="l">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10" name="Text 6"/>
          <p:cNvSpPr/>
          <p:nvPr/>
        </p:nvSpPr>
        <p:spPr>
          <a:xfrm>
            <a:off x="5667137" y="5884067"/>
            <a:ext cx="3296007" cy="2269332"/>
          </a:xfrm>
          <a:prstGeom prst="rect">
            <a:avLst/>
          </a:prstGeom>
          <a:noFill/>
          <a:ln/>
        </p:spPr>
        <p:txBody>
          <a:bodyPr wrap="square" rtlCol="0" anchor="t"/>
          <a:lstStyle/>
          <a:p>
            <a:pPr marL="345445" lvl="1">
              <a:lnSpc>
                <a:spcPct val="150000"/>
              </a:lnSpc>
            </a:pPr>
            <a:endParaRPr lang="en-US" sz="1750" dirty="0">
              <a:latin typeface="Gelasio"/>
            </a:endParaRPr>
          </a:p>
        </p:txBody>
      </p:sp>
      <p:sp>
        <p:nvSpPr>
          <p:cNvPr id="12" name="Text 7"/>
          <p:cNvSpPr/>
          <p:nvPr/>
        </p:nvSpPr>
        <p:spPr>
          <a:xfrm>
            <a:off x="9296400" y="5469732"/>
            <a:ext cx="3122414" cy="407192"/>
          </a:xfrm>
          <a:prstGeom prst="rect">
            <a:avLst/>
          </a:prstGeom>
          <a:noFill/>
          <a:ln/>
        </p:spPr>
        <p:txBody>
          <a:bodyPr wrap="none" rtlCol="0" anchor="t"/>
          <a:lstStyle/>
          <a:p>
            <a:pPr marL="0" indent="0" algn="l">
              <a:lnSpc>
                <a:spcPts val="2734"/>
              </a:lnSpc>
              <a:buNone/>
            </a:pPr>
            <a:endParaRPr lang="en-US" sz="2187" dirty="0">
              <a:latin typeface="Times New Roman" panose="02020603050405020304" pitchFamily="18" charset="0"/>
              <a:cs typeface="Times New Roman" panose="02020603050405020304" pitchFamily="18" charset="0"/>
            </a:endParaRPr>
          </a:p>
        </p:txBody>
      </p:sp>
      <p:sp>
        <p:nvSpPr>
          <p:cNvPr id="13" name="Text 8"/>
          <p:cNvSpPr/>
          <p:nvPr/>
        </p:nvSpPr>
        <p:spPr>
          <a:xfrm>
            <a:off x="9296400" y="5884067"/>
            <a:ext cx="3296007" cy="2269331"/>
          </a:xfrm>
          <a:prstGeom prst="rect">
            <a:avLst/>
          </a:prstGeom>
          <a:noFill/>
          <a:ln/>
        </p:spPr>
        <p:txBody>
          <a:bodyPr wrap="square" rtlCol="0" anchor="t"/>
          <a:lstStyle/>
          <a:p>
            <a:pPr marL="0" indent="0" algn="l">
              <a:lnSpc>
                <a:spcPct val="150000"/>
              </a:lnSpc>
              <a:buNone/>
            </a:pPr>
            <a:endParaRPr lang="en-US" sz="1750"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14DDD03-303B-12E0-B962-9801D146BA0B}"/>
              </a:ext>
            </a:extLst>
          </p:cNvPr>
          <p:cNvPicPr>
            <a:picLocks noChangeAspect="1"/>
          </p:cNvPicPr>
          <p:nvPr/>
        </p:nvPicPr>
        <p:blipFill>
          <a:blip r:embed="rId3"/>
          <a:stretch>
            <a:fillRect/>
          </a:stretch>
        </p:blipFill>
        <p:spPr>
          <a:xfrm>
            <a:off x="742174" y="1548430"/>
            <a:ext cx="13202426" cy="66811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sp>
        <p:nvSpPr>
          <p:cNvPr id="5" name="Text 2"/>
          <p:cNvSpPr/>
          <p:nvPr/>
        </p:nvSpPr>
        <p:spPr>
          <a:xfrm>
            <a:off x="806769" y="484110"/>
            <a:ext cx="11199971" cy="789383"/>
          </a:xfrm>
          <a:prstGeom prst="rect">
            <a:avLst/>
          </a:prstGeom>
          <a:noFill/>
          <a:ln/>
        </p:spPr>
        <p:txBody>
          <a:bodyPr wrap="none" rtlCol="0" anchor="t"/>
          <a:lstStyle/>
          <a:p>
            <a:pPr marL="0" indent="0">
              <a:lnSpc>
                <a:spcPts val="5468"/>
              </a:lnSpc>
              <a:buNone/>
            </a:pPr>
            <a:r>
              <a:rPr lang="en-US" sz="4400" b="1" dirty="0">
                <a:solidFill>
                  <a:srgbClr val="484237"/>
                </a:solidFill>
                <a:latin typeface="Arial" panose="020B0604020202020204" pitchFamily="34" charset="0"/>
                <a:ea typeface="Gelasio" pitchFamily="34" charset="-122"/>
                <a:cs typeface="Arial" panose="020B0604020202020204" pitchFamily="34" charset="0"/>
              </a:rPr>
              <a:t>CLASS DIAGRAM</a:t>
            </a:r>
          </a:p>
          <a:p>
            <a:pPr marL="0" indent="0">
              <a:lnSpc>
                <a:spcPts val="5468"/>
              </a:lnSpc>
              <a:buNone/>
            </a:pPr>
            <a:endParaRPr lang="en-US" sz="4400" dirty="0">
              <a:latin typeface="Arial" panose="020B0604020202020204" pitchFamily="34" charset="0"/>
              <a:cs typeface="Arial" panose="020B0604020202020204" pitchFamily="34" charset="0"/>
            </a:endParaRPr>
          </a:p>
        </p:txBody>
      </p:sp>
      <p:sp>
        <p:nvSpPr>
          <p:cNvPr id="7" name="Text 4"/>
          <p:cNvSpPr/>
          <p:nvPr/>
        </p:nvSpPr>
        <p:spPr>
          <a:xfrm>
            <a:off x="4712970" y="2776537"/>
            <a:ext cx="3923468" cy="610434"/>
          </a:xfrm>
          <a:prstGeom prst="rect">
            <a:avLst/>
          </a:prstGeom>
          <a:noFill/>
          <a:ln/>
        </p:spPr>
        <p:txBody>
          <a:bodyPr wrap="none" rtlCol="0" anchor="t"/>
          <a:lstStyle/>
          <a:p>
            <a:pPr marL="0" indent="0">
              <a:lnSpc>
                <a:spcPts val="2734"/>
              </a:lnSpc>
              <a:buNone/>
            </a:pPr>
            <a:endParaRPr lang="en-US" sz="3200" dirty="0"/>
          </a:p>
        </p:txBody>
      </p:sp>
      <p:sp>
        <p:nvSpPr>
          <p:cNvPr id="8" name="Text 5"/>
          <p:cNvSpPr/>
          <p:nvPr/>
        </p:nvSpPr>
        <p:spPr>
          <a:xfrm>
            <a:off x="4712970" y="3200400"/>
            <a:ext cx="4097774" cy="1805702"/>
          </a:xfrm>
          <a:prstGeom prst="rect">
            <a:avLst/>
          </a:prstGeom>
          <a:noFill/>
          <a:ln/>
        </p:spPr>
        <p:txBody>
          <a:bodyPr wrap="square" rtlCol="0" anchor="t"/>
          <a:lstStyle/>
          <a:p>
            <a:pPr marL="0" indent="0">
              <a:lnSpc>
                <a:spcPts val="2799"/>
              </a:lnSpc>
              <a:buNone/>
            </a:pPr>
            <a:endParaRPr lang="en-US" sz="1750" dirty="0"/>
          </a:p>
        </p:txBody>
      </p:sp>
      <p:sp>
        <p:nvSpPr>
          <p:cNvPr id="10" name="Text 7"/>
          <p:cNvSpPr/>
          <p:nvPr/>
        </p:nvSpPr>
        <p:spPr>
          <a:xfrm>
            <a:off x="9477256" y="2393275"/>
            <a:ext cx="3170039" cy="347186"/>
          </a:xfrm>
          <a:prstGeom prst="rect">
            <a:avLst/>
          </a:prstGeom>
          <a:noFill/>
          <a:ln/>
        </p:spPr>
        <p:txBody>
          <a:bodyPr wrap="none" rtlCol="0" anchor="t"/>
          <a:lstStyle/>
          <a:p>
            <a:pPr marL="0" indent="0">
              <a:lnSpc>
                <a:spcPts val="2734"/>
              </a:lnSpc>
              <a:buNone/>
            </a:pPr>
            <a:endParaRPr lang="en-US" sz="2187" dirty="0"/>
          </a:p>
        </p:txBody>
      </p:sp>
      <p:sp>
        <p:nvSpPr>
          <p:cNvPr id="11" name="Text 8"/>
          <p:cNvSpPr/>
          <p:nvPr/>
        </p:nvSpPr>
        <p:spPr>
          <a:xfrm>
            <a:off x="9477256" y="2873693"/>
            <a:ext cx="4097774" cy="1421606"/>
          </a:xfrm>
          <a:prstGeom prst="rect">
            <a:avLst/>
          </a:prstGeom>
          <a:noFill/>
          <a:ln/>
        </p:spPr>
        <p:txBody>
          <a:bodyPr wrap="square" rtlCol="0" anchor="t"/>
          <a:lstStyle/>
          <a:p>
            <a:pPr marL="0" indent="0">
              <a:lnSpc>
                <a:spcPts val="2799"/>
              </a:lnSpc>
              <a:buNone/>
            </a:pPr>
            <a:endParaRPr lang="en-US" sz="1750" dirty="0"/>
          </a:p>
        </p:txBody>
      </p:sp>
      <p:sp>
        <p:nvSpPr>
          <p:cNvPr id="13" name="Text 10"/>
          <p:cNvSpPr/>
          <p:nvPr/>
        </p:nvSpPr>
        <p:spPr>
          <a:xfrm>
            <a:off x="4712970" y="5672614"/>
            <a:ext cx="3744397" cy="347186"/>
          </a:xfrm>
          <a:prstGeom prst="rect">
            <a:avLst/>
          </a:prstGeom>
          <a:noFill/>
          <a:ln/>
        </p:spPr>
        <p:txBody>
          <a:bodyPr wrap="none" rtlCol="0" anchor="t"/>
          <a:lstStyle/>
          <a:p>
            <a:pPr marL="0" indent="0">
              <a:lnSpc>
                <a:spcPts val="2734"/>
              </a:lnSpc>
              <a:buNone/>
            </a:pPr>
            <a:endParaRPr lang="en-US" sz="2187" dirty="0"/>
          </a:p>
        </p:txBody>
      </p:sp>
      <p:sp>
        <p:nvSpPr>
          <p:cNvPr id="14" name="Text 11"/>
          <p:cNvSpPr/>
          <p:nvPr/>
        </p:nvSpPr>
        <p:spPr>
          <a:xfrm>
            <a:off x="4712970" y="6153031"/>
            <a:ext cx="8862060" cy="710803"/>
          </a:xfrm>
          <a:prstGeom prst="rect">
            <a:avLst/>
          </a:prstGeom>
          <a:noFill/>
          <a:ln/>
        </p:spPr>
        <p:txBody>
          <a:bodyPr wrap="square" rtlCol="0" anchor="t"/>
          <a:lstStyle/>
          <a:p>
            <a:pPr marL="0" indent="0">
              <a:lnSpc>
                <a:spcPts val="2799"/>
              </a:lnSpc>
              <a:buNone/>
            </a:pPr>
            <a:endParaRPr lang="en-US" sz="1750" dirty="0"/>
          </a:p>
        </p:txBody>
      </p:sp>
      <p:pic>
        <p:nvPicPr>
          <p:cNvPr id="9" name="Picture 8">
            <a:extLst>
              <a:ext uri="{FF2B5EF4-FFF2-40B4-BE49-F238E27FC236}">
                <a16:creationId xmlns:a16="http://schemas.microsoft.com/office/drawing/2014/main" id="{09030F08-C5D2-086D-D9F2-DDF17DE80BEC}"/>
              </a:ext>
            </a:extLst>
          </p:cNvPr>
          <p:cNvPicPr>
            <a:picLocks noChangeAspect="1"/>
          </p:cNvPicPr>
          <p:nvPr/>
        </p:nvPicPr>
        <p:blipFill>
          <a:blip r:embed="rId3"/>
          <a:stretch>
            <a:fillRect/>
          </a:stretch>
        </p:blipFill>
        <p:spPr>
          <a:xfrm>
            <a:off x="1200150" y="1499473"/>
            <a:ext cx="12374880" cy="6246017"/>
          </a:xfrm>
          <a:prstGeom prst="rect">
            <a:avLst/>
          </a:prstGeom>
        </p:spPr>
      </p:pic>
    </p:spTree>
    <p:extLst>
      <p:ext uri="{BB962C8B-B14F-4D97-AF65-F5344CB8AC3E}">
        <p14:creationId xmlns:p14="http://schemas.microsoft.com/office/powerpoint/2010/main" val="3448608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193183" y="0"/>
            <a:ext cx="14630400" cy="8542116"/>
          </a:xfrm>
          <a:prstGeom prst="rect">
            <a:avLst/>
          </a:prstGeom>
          <a:solidFill>
            <a:srgbClr val="F9F6F0"/>
          </a:solidFill>
          <a:ln/>
        </p:spPr>
      </p:sp>
      <p:sp>
        <p:nvSpPr>
          <p:cNvPr id="5" name="Text 2"/>
          <p:cNvSpPr/>
          <p:nvPr/>
        </p:nvSpPr>
        <p:spPr>
          <a:xfrm>
            <a:off x="166814" y="352009"/>
            <a:ext cx="12520851" cy="733425"/>
          </a:xfrm>
          <a:prstGeom prst="rect">
            <a:avLst/>
          </a:prstGeom>
          <a:noFill/>
          <a:ln/>
        </p:spPr>
        <p:txBody>
          <a:bodyPr wrap="none" rtlCol="0" anchor="t"/>
          <a:lstStyle/>
          <a:p>
            <a:pPr marL="0" indent="0">
              <a:lnSpc>
                <a:spcPts val="5468"/>
              </a:lnSpc>
              <a:buNone/>
            </a:pPr>
            <a:r>
              <a:rPr lang="en-US" sz="4400" b="1" dirty="0">
                <a:latin typeface="Arial" panose="020B0604020202020204" pitchFamily="34" charset="0"/>
                <a:cs typeface="Arial" panose="020B0604020202020204" pitchFamily="34" charset="0"/>
              </a:rPr>
              <a:t>SEQUENCE DIAGRAM</a:t>
            </a:r>
          </a:p>
        </p:txBody>
      </p:sp>
      <p:sp>
        <p:nvSpPr>
          <p:cNvPr id="6" name="Text 3"/>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pic>
        <p:nvPicPr>
          <p:cNvPr id="8" name="Picture 7">
            <a:extLst>
              <a:ext uri="{FF2B5EF4-FFF2-40B4-BE49-F238E27FC236}">
                <a16:creationId xmlns:a16="http://schemas.microsoft.com/office/drawing/2014/main" id="{72B58837-CD03-4541-8C4D-4A69476A4B6B}"/>
              </a:ext>
            </a:extLst>
          </p:cNvPr>
          <p:cNvPicPr>
            <a:picLocks noChangeAspect="1"/>
          </p:cNvPicPr>
          <p:nvPr/>
        </p:nvPicPr>
        <p:blipFill>
          <a:blip r:embed="rId3"/>
          <a:stretch>
            <a:fillRect/>
          </a:stretch>
        </p:blipFill>
        <p:spPr>
          <a:xfrm>
            <a:off x="618186" y="1161064"/>
            <a:ext cx="13033420" cy="7068536"/>
          </a:xfrm>
          <a:prstGeom prst="rect">
            <a:avLst/>
          </a:prstGeom>
        </p:spPr>
      </p:pic>
    </p:spTree>
    <p:extLst>
      <p:ext uri="{BB962C8B-B14F-4D97-AF65-F5344CB8AC3E}">
        <p14:creationId xmlns:p14="http://schemas.microsoft.com/office/powerpoint/2010/main" val="1256970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347240"/>
            <a:ext cx="14630400" cy="8542116"/>
          </a:xfrm>
          <a:prstGeom prst="rect">
            <a:avLst/>
          </a:prstGeom>
          <a:solidFill>
            <a:srgbClr val="F9F6F0"/>
          </a:solidFill>
          <a:ln/>
        </p:spPr>
      </p:sp>
      <p:sp>
        <p:nvSpPr>
          <p:cNvPr id="5" name="Text 2"/>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ACTIVITY DIAGRAM</a:t>
            </a:r>
            <a:endParaRPr lang="en-US" sz="4400" dirty="0">
              <a:latin typeface="Arial" panose="020B0604020202020204" pitchFamily="34" charset="0"/>
              <a:cs typeface="Arial" panose="020B0604020202020204" pitchFamily="34" charset="0"/>
            </a:endParaRPr>
          </a:p>
        </p:txBody>
      </p:sp>
      <p:sp>
        <p:nvSpPr>
          <p:cNvPr id="6" name="Text 3"/>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pic>
        <p:nvPicPr>
          <p:cNvPr id="9" name="Picture 8">
            <a:extLst>
              <a:ext uri="{FF2B5EF4-FFF2-40B4-BE49-F238E27FC236}">
                <a16:creationId xmlns:a16="http://schemas.microsoft.com/office/drawing/2014/main" id="{776A8BDB-E1A2-2CDA-6BC4-708801C3E5B3}"/>
              </a:ext>
            </a:extLst>
          </p:cNvPr>
          <p:cNvPicPr>
            <a:picLocks noChangeAspect="1"/>
          </p:cNvPicPr>
          <p:nvPr/>
        </p:nvPicPr>
        <p:blipFill>
          <a:blip r:embed="rId3"/>
          <a:stretch>
            <a:fillRect/>
          </a:stretch>
        </p:blipFill>
        <p:spPr>
          <a:xfrm>
            <a:off x="1524000" y="1281803"/>
            <a:ext cx="11525250" cy="6537601"/>
          </a:xfrm>
          <a:prstGeom prst="rect">
            <a:avLst/>
          </a:prstGeom>
        </p:spPr>
      </p:pic>
      <p:sp>
        <p:nvSpPr>
          <p:cNvPr id="8" name="TextBox 7">
            <a:extLst>
              <a:ext uri="{FF2B5EF4-FFF2-40B4-BE49-F238E27FC236}">
                <a16:creationId xmlns:a16="http://schemas.microsoft.com/office/drawing/2014/main" id="{09B0EBC7-36BB-44E3-B42E-52627A8D9C63}"/>
              </a:ext>
            </a:extLst>
          </p:cNvPr>
          <p:cNvSpPr txBox="1"/>
          <p:nvPr/>
        </p:nvSpPr>
        <p:spPr>
          <a:xfrm>
            <a:off x="5207259" y="4061954"/>
            <a:ext cx="1803042" cy="646331"/>
          </a:xfrm>
          <a:prstGeom prst="rect">
            <a:avLst/>
          </a:prstGeom>
          <a:noFill/>
        </p:spPr>
        <p:txBody>
          <a:bodyPr wrap="square" rtlCol="0">
            <a:spAutoFit/>
          </a:bodyPr>
          <a:lstStyle/>
          <a:p>
            <a:r>
              <a:rPr lang="en-US" dirty="0"/>
              <a:t>Yes</a:t>
            </a:r>
          </a:p>
          <a:p>
            <a:endParaRPr lang="en-IN" dirty="0"/>
          </a:p>
        </p:txBody>
      </p:sp>
      <p:sp>
        <p:nvSpPr>
          <p:cNvPr id="10" name="TextBox 9">
            <a:extLst>
              <a:ext uri="{FF2B5EF4-FFF2-40B4-BE49-F238E27FC236}">
                <a16:creationId xmlns:a16="http://schemas.microsoft.com/office/drawing/2014/main" id="{ACF888A5-CFB3-4A0B-B02C-E685D33DBDF4}"/>
              </a:ext>
            </a:extLst>
          </p:cNvPr>
          <p:cNvSpPr txBox="1"/>
          <p:nvPr/>
        </p:nvSpPr>
        <p:spPr>
          <a:xfrm>
            <a:off x="9220237" y="4034969"/>
            <a:ext cx="1339402" cy="646331"/>
          </a:xfrm>
          <a:prstGeom prst="rect">
            <a:avLst/>
          </a:prstGeom>
          <a:noFill/>
        </p:spPr>
        <p:txBody>
          <a:bodyPr wrap="square" rtlCol="0">
            <a:spAutoFit/>
          </a:bodyPr>
          <a:lstStyle/>
          <a:p>
            <a:r>
              <a:rPr lang="en-US" dirty="0"/>
              <a:t>No</a:t>
            </a:r>
          </a:p>
          <a:p>
            <a:endParaRPr lang="en-IN" dirty="0"/>
          </a:p>
        </p:txBody>
      </p:sp>
    </p:spTree>
    <p:extLst>
      <p:ext uri="{BB962C8B-B14F-4D97-AF65-F5344CB8AC3E}">
        <p14:creationId xmlns:p14="http://schemas.microsoft.com/office/powerpoint/2010/main" val="2731206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2D10-B95E-CBE5-574B-63AFA10F1C0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8BB7F9-AD47-CB65-6037-232A1FA5CD0D}"/>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234C8F3A-0F5B-1C38-8A9A-F8774B231056}"/>
              </a:ext>
            </a:extLst>
          </p:cNvPr>
          <p:cNvSpPr/>
          <p:nvPr/>
        </p:nvSpPr>
        <p:spPr>
          <a:xfrm>
            <a:off x="0" y="-347240"/>
            <a:ext cx="14630400" cy="8542116"/>
          </a:xfrm>
          <a:prstGeom prst="rect">
            <a:avLst/>
          </a:prstGeom>
          <a:solidFill>
            <a:srgbClr val="F9F6F0"/>
          </a:solidFill>
          <a:ln/>
        </p:spPr>
      </p:sp>
      <p:sp>
        <p:nvSpPr>
          <p:cNvPr id="5" name="Text 2">
            <a:extLst>
              <a:ext uri="{FF2B5EF4-FFF2-40B4-BE49-F238E27FC236}">
                <a16:creationId xmlns:a16="http://schemas.microsoft.com/office/drawing/2014/main" id="{B17EA004-948A-1D50-C77D-E617F2AD12F0}"/>
              </a:ext>
            </a:extLst>
          </p:cNvPr>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PSEUDO CODE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E5DD96E7-1050-7746-F94E-642FFF73E56A}"/>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A00D9C13-A0FD-FF36-BA3D-C8C16479C050}"/>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7" name="Content Placeholder 16">
            <a:extLst>
              <a:ext uri="{FF2B5EF4-FFF2-40B4-BE49-F238E27FC236}">
                <a16:creationId xmlns:a16="http://schemas.microsoft.com/office/drawing/2014/main" id="{01AD2545-E14A-EBC8-6EEA-AD6A89AD27D5}"/>
              </a:ext>
            </a:extLst>
          </p:cNvPr>
          <p:cNvSpPr>
            <a:spLocks noGrp="1"/>
          </p:cNvSpPr>
          <p:nvPr>
            <p:ph sz="half" idx="1"/>
          </p:nvPr>
        </p:nvSpPr>
        <p:spPr>
          <a:xfrm>
            <a:off x="323850" y="1400189"/>
            <a:ext cx="6899910" cy="6509885"/>
          </a:xfrm>
        </p:spPr>
        <p:txBody>
          <a:bodyPr>
            <a:normAutofit fontScale="25000" lnSpcReduction="20000"/>
          </a:bodyPr>
          <a:lstStyle/>
          <a:p>
            <a:pPr marL="0" indent="0">
              <a:buNone/>
            </a:pPr>
            <a:r>
              <a:rPr lang="en-IN" sz="7200" dirty="0"/>
              <a:t>&lt;!DOCTYPE html&gt; </a:t>
            </a:r>
          </a:p>
          <a:p>
            <a:pPr marL="0" indent="0">
              <a:buNone/>
            </a:pPr>
            <a:r>
              <a:rPr lang="en-IN" sz="7200" dirty="0"/>
              <a:t>&lt;html lang=”</a:t>
            </a:r>
            <a:r>
              <a:rPr lang="en-IN" sz="7200" dirty="0" err="1"/>
              <a:t>en</a:t>
            </a:r>
            <a:r>
              <a:rPr lang="en-IN" sz="7200" dirty="0"/>
              <a:t>”&gt; </a:t>
            </a:r>
          </a:p>
          <a:p>
            <a:pPr marL="0" indent="0">
              <a:buNone/>
            </a:pPr>
            <a:r>
              <a:rPr lang="en-IN" sz="7200" dirty="0"/>
              <a:t>&lt;head&gt; </a:t>
            </a:r>
          </a:p>
          <a:p>
            <a:pPr marL="0" indent="0">
              <a:buNone/>
            </a:pPr>
            <a:r>
              <a:rPr lang="en-IN" sz="7200" dirty="0"/>
              <a:t>     &lt;meta charset=”UTF-8”&gt; </a:t>
            </a:r>
          </a:p>
          <a:p>
            <a:pPr marL="0" indent="0">
              <a:buNone/>
            </a:pPr>
            <a:r>
              <a:rPr lang="en-IN" sz="7200" dirty="0"/>
              <a:t>     &lt;meta name=”viewport” content=”width=device-width, initial</a:t>
            </a:r>
          </a:p>
          <a:p>
            <a:pPr marL="0" indent="0">
              <a:buNone/>
            </a:pPr>
            <a:r>
              <a:rPr lang="en-IN" sz="7200" dirty="0"/>
              <a:t>scale=1.0”&gt; </a:t>
            </a:r>
          </a:p>
          <a:p>
            <a:pPr marL="0" indent="0">
              <a:buNone/>
            </a:pPr>
            <a:r>
              <a:rPr lang="en-IN" sz="7200" dirty="0"/>
              <a:t>      &lt;title&gt;YouTube Comment Toxicity Classifier&lt;/title&gt; </a:t>
            </a:r>
          </a:p>
          <a:p>
            <a:pPr marL="0" indent="0">
              <a:buNone/>
            </a:pPr>
            <a:r>
              <a:rPr lang="en-IN" sz="7200" dirty="0"/>
              <a:t>      &lt;link        </a:t>
            </a:r>
            <a:r>
              <a:rPr lang="en-IN" sz="7200" dirty="0" err="1"/>
              <a:t>rel</a:t>
            </a:r>
            <a:r>
              <a:rPr lang="en-IN" sz="7200" dirty="0"/>
              <a:t>=”stylesheet” </a:t>
            </a:r>
          </a:p>
          <a:p>
            <a:pPr marL="0" indent="0">
              <a:buNone/>
            </a:pPr>
            <a:r>
              <a:rPr lang="en-IN" sz="7200" dirty="0" err="1"/>
              <a:t>href</a:t>
            </a:r>
            <a:r>
              <a:rPr lang="en-IN" sz="7200" dirty="0"/>
              <a:t>=https://stackpath.bootstrapcdn.com/bootstrap/4.5.2/css/bootstr</a:t>
            </a:r>
          </a:p>
          <a:p>
            <a:pPr marL="0" indent="0">
              <a:buNone/>
            </a:pPr>
            <a:r>
              <a:rPr lang="en-IN" sz="7200" dirty="0"/>
              <a:t> ap.min.css&gt; </a:t>
            </a:r>
          </a:p>
          <a:p>
            <a:pPr marL="0" indent="0">
              <a:buNone/>
            </a:pPr>
            <a:r>
              <a:rPr lang="en-IN" sz="7200" dirty="0"/>
              <a:t>&lt;style&gt; </a:t>
            </a:r>
          </a:p>
          <a:p>
            <a:pPr marL="0" indent="0">
              <a:buNone/>
            </a:pPr>
            <a:r>
              <a:rPr lang="en-IN" sz="7200" dirty="0"/>
              <a:t>        /* General body styling */ </a:t>
            </a:r>
          </a:p>
          <a:p>
            <a:pPr marL="0" indent="0">
              <a:buNone/>
            </a:pPr>
            <a:r>
              <a:rPr lang="en-IN" sz="7200" dirty="0"/>
              <a:t>Body { </a:t>
            </a:r>
          </a:p>
          <a:p>
            <a:pPr marL="0" indent="0">
              <a:buNone/>
            </a:pPr>
            <a:r>
              <a:rPr lang="en-IN" sz="7200" dirty="0"/>
              <a:t>         </a:t>
            </a:r>
            <a:r>
              <a:rPr lang="en-IN" sz="7200" dirty="0" err="1"/>
              <a:t>Background-image:url</a:t>
            </a:r>
            <a:r>
              <a:rPr lang="en-IN" sz="7200" dirty="0"/>
              <a:t>(‘/static/pic.jpeg’); </a:t>
            </a:r>
          </a:p>
          <a:p>
            <a:pPr marL="0" indent="0">
              <a:buNone/>
            </a:pPr>
            <a:r>
              <a:rPr lang="en-IN" sz="7200" dirty="0"/>
              <a:t>         </a:t>
            </a:r>
            <a:r>
              <a:rPr lang="en-IN" sz="7200" dirty="0" err="1"/>
              <a:t>Background-size:cover</a:t>
            </a:r>
            <a:r>
              <a:rPr lang="en-IN" sz="7200" dirty="0"/>
              <a:t>; </a:t>
            </a:r>
          </a:p>
          <a:p>
            <a:pPr marL="0" indent="0">
              <a:buNone/>
            </a:pPr>
            <a:r>
              <a:rPr lang="en-IN" sz="7200" dirty="0"/>
              <a:t>         </a:t>
            </a:r>
            <a:r>
              <a:rPr lang="en-IN" sz="7200" dirty="0" err="1"/>
              <a:t>Background-position:center</a:t>
            </a:r>
            <a:r>
              <a:rPr lang="en-IN" sz="7200" dirty="0"/>
              <a:t>; </a:t>
            </a:r>
          </a:p>
          <a:p>
            <a:pPr marL="0" indent="0">
              <a:buNone/>
            </a:pPr>
            <a:r>
              <a:rPr lang="en-IN" sz="7200" dirty="0"/>
              <a:t>         </a:t>
            </a:r>
            <a:r>
              <a:rPr lang="en-IN" sz="7200" dirty="0" err="1"/>
              <a:t>Background-repeat:no-repeat</a:t>
            </a:r>
            <a:r>
              <a:rPr lang="en-IN" sz="7200" dirty="0"/>
              <a:t>; </a:t>
            </a:r>
          </a:p>
          <a:p>
            <a:pPr marL="0" indent="0">
              <a:buNone/>
            </a:pPr>
            <a:r>
              <a:rPr lang="en-IN" sz="7200" dirty="0"/>
              <a:t>} </a:t>
            </a:r>
          </a:p>
          <a:p>
            <a:pPr marL="0" indent="0">
              <a:buNone/>
            </a:pPr>
            <a:endParaRPr lang="en-IN" dirty="0"/>
          </a:p>
        </p:txBody>
      </p:sp>
      <p:sp>
        <p:nvSpPr>
          <p:cNvPr id="18" name="Content Placeholder 17">
            <a:extLst>
              <a:ext uri="{FF2B5EF4-FFF2-40B4-BE49-F238E27FC236}">
                <a16:creationId xmlns:a16="http://schemas.microsoft.com/office/drawing/2014/main" id="{C82B1681-09DF-6A2C-27EB-323C4BB2B120}"/>
              </a:ext>
            </a:extLst>
          </p:cNvPr>
          <p:cNvSpPr>
            <a:spLocks noGrp="1"/>
          </p:cNvSpPr>
          <p:nvPr>
            <p:ph sz="half" idx="2"/>
          </p:nvPr>
        </p:nvSpPr>
        <p:spPr>
          <a:xfrm>
            <a:off x="7406640" y="-171450"/>
            <a:ext cx="6671310" cy="8366326"/>
          </a:xfrm>
        </p:spPr>
        <p:txBody>
          <a:bodyPr>
            <a:noAutofit/>
          </a:bodyPr>
          <a:lstStyle/>
          <a:p>
            <a:pPr marL="0" indent="0">
              <a:buNone/>
            </a:pPr>
            <a:r>
              <a:rPr lang="en-IN" sz="1800" dirty="0"/>
              <a:t>/* Container for the main content */ </a:t>
            </a:r>
          </a:p>
          <a:p>
            <a:pPr marL="0" indent="0">
              <a:buNone/>
            </a:pPr>
            <a:r>
              <a:rPr lang="en-IN" sz="1800" dirty="0"/>
              <a:t>.container { </a:t>
            </a:r>
          </a:p>
          <a:p>
            <a:pPr marL="0" indent="0">
              <a:buNone/>
            </a:pPr>
            <a:r>
              <a:rPr lang="en-IN" sz="1800" dirty="0"/>
              <a:t>         Max-width: 800px; </a:t>
            </a:r>
          </a:p>
          <a:p>
            <a:pPr marL="0" indent="0">
              <a:buNone/>
            </a:pPr>
            <a:r>
              <a:rPr lang="en-IN" sz="1800" dirty="0"/>
              <a:t>         Margin-top: 20px; </a:t>
            </a:r>
          </a:p>
          <a:p>
            <a:pPr marL="0" indent="0">
              <a:buNone/>
            </a:pPr>
            <a:r>
              <a:rPr lang="en-IN" sz="1800" dirty="0"/>
              <a:t>         Background-</a:t>
            </a:r>
            <a:r>
              <a:rPr lang="en-IN" sz="1800" dirty="0" err="1"/>
              <a:t>color</a:t>
            </a:r>
            <a:r>
              <a:rPr lang="en-IN" sz="1800" dirty="0"/>
              <a:t>: #ffffff; </a:t>
            </a:r>
          </a:p>
          <a:p>
            <a:pPr marL="0" indent="0">
              <a:buNone/>
            </a:pPr>
            <a:r>
              <a:rPr lang="en-IN" sz="1800" dirty="0"/>
              <a:t>         Padding: 30px; </a:t>
            </a:r>
          </a:p>
          <a:p>
            <a:pPr marL="0" indent="0">
              <a:buNone/>
            </a:pPr>
            <a:r>
              <a:rPr lang="en-IN" sz="1800" dirty="0"/>
              <a:t>         Box-shadow: 0 4px 8px </a:t>
            </a:r>
            <a:r>
              <a:rPr lang="en-IN" sz="1800" dirty="0" err="1"/>
              <a:t>rgba</a:t>
            </a:r>
            <a:r>
              <a:rPr lang="en-IN" sz="1800" dirty="0"/>
              <a:t>(0, 0, 0, 0.1); </a:t>
            </a:r>
          </a:p>
          <a:p>
            <a:pPr marL="0" indent="0">
              <a:buNone/>
            </a:pPr>
            <a:r>
              <a:rPr lang="en-IN" sz="1800" dirty="0"/>
              <a:t>         Border-radius: 8px; </a:t>
            </a:r>
          </a:p>
          <a:p>
            <a:pPr marL="0" indent="0">
              <a:buNone/>
            </a:pPr>
            <a:r>
              <a:rPr lang="en-IN" sz="1800" dirty="0"/>
              <a:t>}</a:t>
            </a:r>
          </a:p>
          <a:p>
            <a:pPr marL="0" indent="0">
              <a:buNone/>
            </a:pPr>
            <a:r>
              <a:rPr lang="en-IN" sz="1800" dirty="0"/>
              <a:t>/* Header styling */ </a:t>
            </a:r>
          </a:p>
          <a:p>
            <a:pPr marL="0" indent="0">
              <a:buNone/>
            </a:pPr>
            <a:r>
              <a:rPr lang="en-IN" sz="1800" dirty="0"/>
              <a:t>H1 { </a:t>
            </a:r>
          </a:p>
          <a:p>
            <a:pPr marL="0" indent="0">
              <a:buNone/>
            </a:pPr>
            <a:r>
              <a:rPr lang="en-IN" sz="1800" dirty="0"/>
              <a:t>        Font-size: 2rem; </a:t>
            </a:r>
          </a:p>
          <a:p>
            <a:pPr marL="0" indent="0">
              <a:buNone/>
            </a:pPr>
            <a:r>
              <a:rPr lang="en-IN" sz="1800" dirty="0"/>
              <a:t>         Font-weight: 600; </a:t>
            </a:r>
          </a:p>
          <a:p>
            <a:pPr marL="0" indent="0">
              <a:buNone/>
            </a:pPr>
            <a:r>
              <a:rPr lang="en-IN" sz="1800" dirty="0"/>
              <a:t>         </a:t>
            </a:r>
            <a:r>
              <a:rPr lang="en-IN" sz="1800" dirty="0" err="1"/>
              <a:t>Color</a:t>
            </a:r>
            <a:r>
              <a:rPr lang="en-IN" sz="1800" dirty="0"/>
              <a:t>: #333; </a:t>
            </a:r>
          </a:p>
          <a:p>
            <a:pPr marL="0" indent="0">
              <a:buNone/>
            </a:pPr>
            <a:r>
              <a:rPr lang="en-IN" sz="1800" dirty="0"/>
              <a:t>         Text-align: </a:t>
            </a:r>
            <a:r>
              <a:rPr lang="en-IN" sz="1800" dirty="0" err="1"/>
              <a:t>center</a:t>
            </a:r>
            <a:r>
              <a:rPr lang="en-IN" sz="1800" dirty="0"/>
              <a:t>; </a:t>
            </a:r>
          </a:p>
          <a:p>
            <a:pPr marL="0" indent="0">
              <a:buNone/>
            </a:pPr>
            <a:r>
              <a:rPr lang="en-IN" sz="1800" dirty="0"/>
              <a:t>} </a:t>
            </a:r>
          </a:p>
          <a:p>
            <a:pPr marL="0" indent="0">
              <a:buNone/>
            </a:pPr>
            <a:r>
              <a:rPr lang="en-IN" sz="1800" dirty="0"/>
              <a:t>/* Form styling */ </a:t>
            </a:r>
          </a:p>
          <a:p>
            <a:pPr marL="0" indent="0">
              <a:buNone/>
            </a:pPr>
            <a:r>
              <a:rPr lang="en-IN" sz="1800" dirty="0"/>
              <a:t>Form .form-group label { </a:t>
            </a:r>
          </a:p>
          <a:p>
            <a:pPr marL="0" indent="0">
              <a:buNone/>
            </a:pPr>
            <a:r>
              <a:rPr lang="en-IN" sz="1800" dirty="0"/>
              <a:t>        Font-weight: 500; </a:t>
            </a:r>
          </a:p>
          <a:p>
            <a:pPr marL="0" indent="0">
              <a:buNone/>
            </a:pPr>
            <a:r>
              <a:rPr lang="en-IN" sz="1800" dirty="0"/>
              <a:t>        </a:t>
            </a:r>
            <a:r>
              <a:rPr lang="en-IN" sz="1800" dirty="0" err="1"/>
              <a:t>Color</a:t>
            </a:r>
            <a:r>
              <a:rPr lang="en-IN" sz="1800" dirty="0"/>
              <a:t>: #555; </a:t>
            </a:r>
          </a:p>
          <a:p>
            <a:pPr marL="0" indent="0">
              <a:buNone/>
            </a:pPr>
            <a:r>
              <a:rPr lang="en-IN" sz="1800" dirty="0"/>
              <a:t>} </a:t>
            </a:r>
            <a:endParaRPr lang="en-IN" sz="1600" dirty="0"/>
          </a:p>
        </p:txBody>
      </p:sp>
    </p:spTree>
    <p:extLst>
      <p:ext uri="{BB962C8B-B14F-4D97-AF65-F5344CB8AC3E}">
        <p14:creationId xmlns:p14="http://schemas.microsoft.com/office/powerpoint/2010/main" val="2956468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25AA8-6688-7D2E-D730-B695578BEB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9A911B-F418-21C4-7635-A94A015BE2AD}"/>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8918E242-163B-1220-C0FF-5B0113F20BC5}"/>
              </a:ext>
            </a:extLst>
          </p:cNvPr>
          <p:cNvSpPr/>
          <p:nvPr/>
        </p:nvSpPr>
        <p:spPr>
          <a:xfrm>
            <a:off x="0" y="-347240"/>
            <a:ext cx="14630400" cy="8542116"/>
          </a:xfrm>
          <a:prstGeom prst="rect">
            <a:avLst/>
          </a:prstGeom>
          <a:solidFill>
            <a:srgbClr val="F9F6F0"/>
          </a:solidFill>
          <a:ln/>
        </p:spPr>
      </p:sp>
      <p:sp>
        <p:nvSpPr>
          <p:cNvPr id="5" name="Text 2">
            <a:extLst>
              <a:ext uri="{FF2B5EF4-FFF2-40B4-BE49-F238E27FC236}">
                <a16:creationId xmlns:a16="http://schemas.microsoft.com/office/drawing/2014/main" id="{11E52843-7227-2A93-148B-E8AF6DEDBE84}"/>
              </a:ext>
            </a:extLst>
          </p:cNvPr>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PSEUDO CODE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17C62615-DBE6-9D4F-E794-F6514A229E77}"/>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B2AE230B-71D4-E5E1-15FE-65CA52E4632B}"/>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7" name="Content Placeholder 16">
            <a:extLst>
              <a:ext uri="{FF2B5EF4-FFF2-40B4-BE49-F238E27FC236}">
                <a16:creationId xmlns:a16="http://schemas.microsoft.com/office/drawing/2014/main" id="{E582B1F5-ECAD-A80E-957C-0A2AE38F4E98}"/>
              </a:ext>
            </a:extLst>
          </p:cNvPr>
          <p:cNvSpPr>
            <a:spLocks noGrp="1"/>
          </p:cNvSpPr>
          <p:nvPr>
            <p:ph sz="half" idx="1"/>
          </p:nvPr>
        </p:nvSpPr>
        <p:spPr>
          <a:xfrm>
            <a:off x="323850" y="1400189"/>
            <a:ext cx="6899910" cy="6509885"/>
          </a:xfrm>
        </p:spPr>
        <p:txBody>
          <a:bodyPr>
            <a:noAutofit/>
          </a:bodyPr>
          <a:lstStyle/>
          <a:p>
            <a:pPr marL="0" indent="0">
              <a:buNone/>
            </a:pPr>
            <a:r>
              <a:rPr lang="en-IN" sz="1800" dirty="0"/>
              <a:t>Form .form-control { </a:t>
            </a:r>
          </a:p>
          <a:p>
            <a:pPr marL="0" indent="0">
              <a:buNone/>
            </a:pPr>
            <a:r>
              <a:rPr lang="en-IN" sz="1800" dirty="0"/>
              <a:t>         Border-radius: 6px; </a:t>
            </a:r>
          </a:p>
          <a:p>
            <a:pPr marL="0" indent="0">
              <a:buNone/>
            </a:pPr>
            <a:r>
              <a:rPr lang="en-IN" sz="1800" dirty="0"/>
              <a:t>         Border: 1px solid #ced4da; </a:t>
            </a:r>
          </a:p>
          <a:p>
            <a:pPr marL="0" indent="0">
              <a:buNone/>
            </a:pPr>
            <a:r>
              <a:rPr lang="en-IN" sz="1800" dirty="0"/>
              <a:t>         Box-shadow: inset 0 1px 3px </a:t>
            </a:r>
            <a:r>
              <a:rPr lang="en-IN" sz="1800" dirty="0" err="1"/>
              <a:t>rgba</a:t>
            </a:r>
            <a:r>
              <a:rPr lang="en-IN" sz="1800" dirty="0"/>
              <a:t>(0, 0, 0, 0.1); </a:t>
            </a:r>
          </a:p>
          <a:p>
            <a:pPr marL="0" indent="0">
              <a:buNone/>
            </a:pPr>
            <a:r>
              <a:rPr lang="en-IN" sz="1800" dirty="0"/>
              <a:t>} </a:t>
            </a:r>
          </a:p>
          <a:p>
            <a:pPr marL="0" indent="0">
              <a:buNone/>
            </a:pPr>
            <a:r>
              <a:rPr lang="en-IN" sz="1800" dirty="0"/>
              <a:t>/* Button styling */ </a:t>
            </a:r>
          </a:p>
          <a:p>
            <a:pPr marL="0" indent="0">
              <a:buNone/>
            </a:pPr>
            <a:r>
              <a:rPr lang="en-IN" sz="1800" dirty="0"/>
              <a:t>.</a:t>
            </a:r>
            <a:r>
              <a:rPr lang="en-IN" sz="1800" dirty="0" err="1"/>
              <a:t>btn</a:t>
            </a:r>
            <a:r>
              <a:rPr lang="en-IN" sz="1800" dirty="0"/>
              <a:t>-primary { </a:t>
            </a:r>
          </a:p>
          <a:p>
            <a:pPr marL="0" indent="0">
              <a:buNone/>
            </a:pPr>
            <a:r>
              <a:rPr lang="en-IN" sz="1800" dirty="0"/>
              <a:t>       Background-</a:t>
            </a:r>
            <a:r>
              <a:rPr lang="en-IN" sz="1800" dirty="0" err="1"/>
              <a:t>color</a:t>
            </a:r>
            <a:r>
              <a:rPr lang="en-IN" sz="1800" dirty="0"/>
              <a:t>: #007bff; </a:t>
            </a:r>
          </a:p>
          <a:p>
            <a:pPr marL="0" indent="0">
              <a:buNone/>
            </a:pPr>
            <a:r>
              <a:rPr lang="en-IN" sz="1800" dirty="0"/>
              <a:t>       Border-</a:t>
            </a:r>
            <a:r>
              <a:rPr lang="en-IN" sz="1800" dirty="0" err="1"/>
              <a:t>color</a:t>
            </a:r>
            <a:r>
              <a:rPr lang="en-IN" sz="1800" dirty="0"/>
              <a:t>: #007bff; </a:t>
            </a:r>
          </a:p>
          <a:p>
            <a:pPr marL="0" indent="0">
              <a:buNone/>
            </a:pPr>
            <a:r>
              <a:rPr lang="en-IN" sz="1800" dirty="0"/>
              <a:t>       Border-radius: 6px; </a:t>
            </a:r>
          </a:p>
          <a:p>
            <a:pPr marL="0" indent="0">
              <a:buNone/>
            </a:pPr>
            <a:r>
              <a:rPr lang="en-IN" sz="1800" dirty="0"/>
              <a:t>       Font-weight: 600; </a:t>
            </a:r>
          </a:p>
          <a:p>
            <a:pPr marL="0" indent="0">
              <a:buNone/>
            </a:pPr>
            <a:r>
              <a:rPr lang="en-IN" sz="1800" dirty="0"/>
              <a:t>} </a:t>
            </a:r>
          </a:p>
          <a:p>
            <a:pPr marL="0" indent="0">
              <a:buNone/>
            </a:pPr>
            <a:r>
              <a:rPr lang="en-IN" sz="1800" dirty="0"/>
              <a:t>.</a:t>
            </a:r>
            <a:r>
              <a:rPr lang="en-IN" sz="1800" dirty="0" err="1"/>
              <a:t>btn-primary:hover</a:t>
            </a:r>
            <a:r>
              <a:rPr lang="en-IN" sz="1800" dirty="0"/>
              <a:t> { </a:t>
            </a:r>
          </a:p>
          <a:p>
            <a:pPr marL="0" indent="0">
              <a:buNone/>
            </a:pPr>
            <a:r>
              <a:rPr lang="en-IN" sz="1800" dirty="0"/>
              <a:t>        Background-</a:t>
            </a:r>
            <a:r>
              <a:rPr lang="en-IN" sz="1800" dirty="0" err="1"/>
              <a:t>color</a:t>
            </a:r>
            <a:r>
              <a:rPr lang="en-IN" sz="1800" dirty="0"/>
              <a:t>: #0056b3; </a:t>
            </a:r>
          </a:p>
          <a:p>
            <a:pPr marL="0" indent="0">
              <a:buNone/>
            </a:pPr>
            <a:r>
              <a:rPr lang="en-IN" sz="1800" dirty="0"/>
              <a:t>        Border-</a:t>
            </a:r>
            <a:r>
              <a:rPr lang="en-IN" sz="1800" dirty="0" err="1"/>
              <a:t>color</a:t>
            </a:r>
            <a:r>
              <a:rPr lang="en-IN" sz="1800" dirty="0"/>
              <a:t>: #0056b3; </a:t>
            </a:r>
          </a:p>
          <a:p>
            <a:pPr marL="0" indent="0">
              <a:buNone/>
            </a:pPr>
            <a:r>
              <a:rPr lang="en-IN" sz="1800" dirty="0"/>
              <a:t>} </a:t>
            </a:r>
          </a:p>
        </p:txBody>
      </p:sp>
      <p:sp>
        <p:nvSpPr>
          <p:cNvPr id="18" name="Content Placeholder 17">
            <a:extLst>
              <a:ext uri="{FF2B5EF4-FFF2-40B4-BE49-F238E27FC236}">
                <a16:creationId xmlns:a16="http://schemas.microsoft.com/office/drawing/2014/main" id="{C5292E7A-7733-CAD4-660B-082629651B15}"/>
              </a:ext>
            </a:extLst>
          </p:cNvPr>
          <p:cNvSpPr>
            <a:spLocks noGrp="1"/>
          </p:cNvSpPr>
          <p:nvPr>
            <p:ph sz="half" idx="2"/>
          </p:nvPr>
        </p:nvSpPr>
        <p:spPr>
          <a:xfrm>
            <a:off x="7406640" y="-347240"/>
            <a:ext cx="6671310" cy="8542116"/>
          </a:xfrm>
        </p:spPr>
        <p:txBody>
          <a:bodyPr>
            <a:noAutofit/>
          </a:bodyPr>
          <a:lstStyle/>
          <a:p>
            <a:pPr marL="0" indent="0">
              <a:buNone/>
            </a:pPr>
            <a:r>
              <a:rPr lang="en-IN" sz="1800" dirty="0"/>
              <a:t>/* Error message styling */ </a:t>
            </a:r>
          </a:p>
          <a:p>
            <a:pPr marL="0" indent="0">
              <a:buNone/>
            </a:pPr>
            <a:r>
              <a:rPr lang="en-IN" sz="1800" dirty="0"/>
              <a:t>.alert-danger { </a:t>
            </a:r>
          </a:p>
          <a:p>
            <a:pPr marL="0" indent="0">
              <a:buNone/>
            </a:pPr>
            <a:r>
              <a:rPr lang="en-IN" sz="1800" dirty="0"/>
              <a:t>        Font-size: 0.9rem; </a:t>
            </a:r>
          </a:p>
          <a:p>
            <a:pPr marL="0" indent="0">
              <a:buNone/>
            </a:pPr>
            <a:r>
              <a:rPr lang="en-IN" sz="1800" dirty="0"/>
              <a:t>        Border-radius: 6px; </a:t>
            </a:r>
          </a:p>
          <a:p>
            <a:pPr marL="0" indent="0">
              <a:buNone/>
            </a:pPr>
            <a:r>
              <a:rPr lang="en-IN" sz="1800" dirty="0"/>
              <a:t>} </a:t>
            </a:r>
          </a:p>
          <a:p>
            <a:pPr marL="0" indent="0">
              <a:buNone/>
            </a:pPr>
            <a:r>
              <a:rPr lang="en-IN" sz="1800" dirty="0"/>
              <a:t>/* Table styling */ </a:t>
            </a:r>
          </a:p>
          <a:p>
            <a:pPr marL="0" indent="0">
              <a:buNone/>
            </a:pPr>
            <a:r>
              <a:rPr lang="en-IN" sz="1800" dirty="0"/>
              <a:t>.table { </a:t>
            </a:r>
          </a:p>
          <a:p>
            <a:pPr marL="0" indent="0">
              <a:buNone/>
            </a:pPr>
            <a:r>
              <a:rPr lang="en-IN" sz="1800" dirty="0"/>
              <a:t>        Border-radius: 6px; </a:t>
            </a:r>
          </a:p>
          <a:p>
            <a:pPr marL="0" indent="0">
              <a:buNone/>
            </a:pPr>
            <a:r>
              <a:rPr lang="en-IN" sz="1800" dirty="0"/>
              <a:t>        Overflow: hidden; </a:t>
            </a:r>
          </a:p>
          <a:p>
            <a:pPr marL="0" indent="0">
              <a:buNone/>
            </a:pPr>
            <a:r>
              <a:rPr lang="en-IN" sz="1800" dirty="0"/>
              <a:t>} </a:t>
            </a:r>
          </a:p>
          <a:p>
            <a:pPr marL="0" indent="0">
              <a:buNone/>
            </a:pPr>
            <a:r>
              <a:rPr lang="en-IN" sz="1800" dirty="0"/>
              <a:t>.table </a:t>
            </a:r>
            <a:r>
              <a:rPr lang="en-IN" sz="1800" dirty="0" err="1"/>
              <a:t>th</a:t>
            </a:r>
            <a:r>
              <a:rPr lang="en-IN" sz="1800" dirty="0"/>
              <a:t> { </a:t>
            </a:r>
          </a:p>
          <a:p>
            <a:pPr marL="0" indent="0">
              <a:buNone/>
            </a:pPr>
            <a:r>
              <a:rPr lang="en-IN" sz="1800" dirty="0"/>
              <a:t>        Background-</a:t>
            </a:r>
            <a:r>
              <a:rPr lang="en-IN" sz="1800" dirty="0" err="1"/>
              <a:t>color</a:t>
            </a:r>
            <a:r>
              <a:rPr lang="en-IN" sz="1800" dirty="0"/>
              <a:t>: #007bff; </a:t>
            </a:r>
          </a:p>
          <a:p>
            <a:pPr marL="0" indent="0">
              <a:buNone/>
            </a:pPr>
            <a:r>
              <a:rPr lang="en-IN" sz="1800" dirty="0"/>
              <a:t>         </a:t>
            </a:r>
            <a:r>
              <a:rPr lang="en-IN" sz="1800" dirty="0" err="1"/>
              <a:t>Color</a:t>
            </a:r>
            <a:r>
              <a:rPr lang="en-IN" sz="1800" dirty="0"/>
              <a:t>: white; </a:t>
            </a:r>
          </a:p>
          <a:p>
            <a:pPr marL="0" indent="0">
              <a:buNone/>
            </a:pPr>
            <a:r>
              <a:rPr lang="en-IN" sz="1800" dirty="0"/>
              <a:t>         Font-weight: 600; </a:t>
            </a:r>
          </a:p>
          <a:p>
            <a:pPr marL="0" indent="0">
              <a:buNone/>
            </a:pPr>
            <a:r>
              <a:rPr lang="en-IN" sz="1800" dirty="0"/>
              <a:t>} </a:t>
            </a:r>
          </a:p>
          <a:p>
            <a:pPr marL="0" indent="0">
              <a:buNone/>
            </a:pPr>
            <a:r>
              <a:rPr lang="en-IN" sz="1800" dirty="0"/>
              <a:t>.table td { </a:t>
            </a:r>
          </a:p>
          <a:p>
            <a:pPr marL="0" indent="0">
              <a:buNone/>
            </a:pPr>
            <a:r>
              <a:rPr lang="en-IN" sz="1800" dirty="0"/>
              <a:t>        Vertical-align: middle; </a:t>
            </a:r>
          </a:p>
          <a:p>
            <a:pPr marL="0" indent="0">
              <a:buNone/>
            </a:pPr>
            <a:r>
              <a:rPr lang="en-IN" sz="1800" dirty="0"/>
              <a:t>        Font-size: 0.9rem; </a:t>
            </a:r>
          </a:p>
          <a:p>
            <a:pPr marL="0" indent="0">
              <a:buNone/>
            </a:pPr>
            <a:r>
              <a:rPr lang="en-IN" sz="1800" dirty="0"/>
              <a:t>} </a:t>
            </a:r>
          </a:p>
          <a:p>
            <a:pPr marL="0" indent="0">
              <a:buNone/>
            </a:pPr>
            <a:r>
              <a:rPr lang="en-IN" sz="1800" dirty="0"/>
              <a:t>.table </a:t>
            </a:r>
            <a:r>
              <a:rPr lang="en-IN" sz="1800" dirty="0" err="1"/>
              <a:t>tbody</a:t>
            </a:r>
            <a:r>
              <a:rPr lang="en-IN" sz="1800" dirty="0"/>
              <a:t> </a:t>
            </a:r>
            <a:r>
              <a:rPr lang="en-IN" sz="1800" dirty="0" err="1"/>
              <a:t>tr:nth-child</a:t>
            </a:r>
            <a:r>
              <a:rPr lang="en-IN" sz="1800" dirty="0"/>
              <a:t>(even) { </a:t>
            </a:r>
          </a:p>
          <a:p>
            <a:pPr marL="0" indent="0">
              <a:buNone/>
            </a:pPr>
            <a:r>
              <a:rPr lang="en-IN" sz="1800" dirty="0"/>
              <a:t>        Background-</a:t>
            </a:r>
            <a:r>
              <a:rPr lang="en-IN" sz="1800" dirty="0" err="1"/>
              <a:t>color</a:t>
            </a:r>
            <a:r>
              <a:rPr lang="en-IN" sz="1800" dirty="0"/>
              <a:t>: #f2f2f2; </a:t>
            </a:r>
          </a:p>
          <a:p>
            <a:pPr marL="0" indent="0">
              <a:buNone/>
            </a:pPr>
            <a:r>
              <a:rPr lang="en-IN" sz="1800" dirty="0"/>
              <a:t> } </a:t>
            </a:r>
          </a:p>
          <a:p>
            <a:pPr marL="0" indent="0">
              <a:buNone/>
            </a:pPr>
            <a:endParaRPr lang="en-IN" sz="1800" dirty="0"/>
          </a:p>
        </p:txBody>
      </p:sp>
    </p:spTree>
    <p:extLst>
      <p:ext uri="{BB962C8B-B14F-4D97-AF65-F5344CB8AC3E}">
        <p14:creationId xmlns:p14="http://schemas.microsoft.com/office/powerpoint/2010/main" val="1557986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751D-261C-5EAC-6213-D48E8F2D64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466005-03DC-0834-12E7-3D8B74CB651F}"/>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2DD9D03C-AF2D-6369-89CF-1D3ED5140F47}"/>
              </a:ext>
            </a:extLst>
          </p:cNvPr>
          <p:cNvSpPr/>
          <p:nvPr/>
        </p:nvSpPr>
        <p:spPr>
          <a:xfrm>
            <a:off x="0" y="-347240"/>
            <a:ext cx="14630400" cy="8542116"/>
          </a:xfrm>
          <a:prstGeom prst="rect">
            <a:avLst/>
          </a:prstGeom>
          <a:solidFill>
            <a:srgbClr val="F9F6F0"/>
          </a:solidFill>
          <a:ln/>
        </p:spPr>
      </p:sp>
      <p:sp>
        <p:nvSpPr>
          <p:cNvPr id="5" name="Text 2">
            <a:extLst>
              <a:ext uri="{FF2B5EF4-FFF2-40B4-BE49-F238E27FC236}">
                <a16:creationId xmlns:a16="http://schemas.microsoft.com/office/drawing/2014/main" id="{197E4988-F4C3-14FC-CAC3-647BC119BCEF}"/>
              </a:ext>
            </a:extLst>
          </p:cNvPr>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PSEUDO CODE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9DDF0086-17AA-A7A4-4C82-E057B373615F}"/>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FAE9BD5F-796F-3674-50B3-A95EEA6BB5F7}"/>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7" name="Content Placeholder 16">
            <a:extLst>
              <a:ext uri="{FF2B5EF4-FFF2-40B4-BE49-F238E27FC236}">
                <a16:creationId xmlns:a16="http://schemas.microsoft.com/office/drawing/2014/main" id="{7224DF86-8244-EAE0-0F37-D35F9123D764}"/>
              </a:ext>
            </a:extLst>
          </p:cNvPr>
          <p:cNvSpPr>
            <a:spLocks noGrp="1"/>
          </p:cNvSpPr>
          <p:nvPr>
            <p:ph sz="half" idx="1"/>
          </p:nvPr>
        </p:nvSpPr>
        <p:spPr>
          <a:xfrm>
            <a:off x="323850" y="1052950"/>
            <a:ext cx="6899910" cy="7176649"/>
          </a:xfrm>
        </p:spPr>
        <p:txBody>
          <a:bodyPr>
            <a:noAutofit/>
          </a:bodyPr>
          <a:lstStyle/>
          <a:p>
            <a:pPr marL="0" indent="0">
              <a:buNone/>
            </a:pPr>
            <a:r>
              <a:rPr lang="en-US" sz="1800" dirty="0"/>
              <a:t>/* Toxicity label and score colors */ </a:t>
            </a:r>
          </a:p>
          <a:p>
            <a:pPr marL="0" indent="0">
              <a:buNone/>
            </a:pPr>
            <a:r>
              <a:rPr lang="en-US" sz="1800" dirty="0"/>
              <a:t>.td-toxicity-label { </a:t>
            </a:r>
          </a:p>
          <a:p>
            <a:pPr marL="0" indent="0">
              <a:buNone/>
            </a:pPr>
            <a:r>
              <a:rPr lang="en-US" sz="1800" dirty="0"/>
              <a:t>       Font-weight: 600; </a:t>
            </a:r>
          </a:p>
          <a:p>
            <a:pPr marL="0" indent="0">
              <a:buNone/>
            </a:pPr>
            <a:r>
              <a:rPr lang="en-US" sz="1800" dirty="0"/>
              <a:t>       Color: #d9534f; /* Red for toxic comments */ </a:t>
            </a:r>
          </a:p>
          <a:p>
            <a:pPr marL="0" indent="0">
              <a:buNone/>
            </a:pPr>
            <a:r>
              <a:rPr lang="en-IN" sz="1800" dirty="0"/>
              <a:t>} </a:t>
            </a:r>
          </a:p>
          <a:p>
            <a:pPr marL="0" indent="0">
              <a:buNone/>
            </a:pPr>
            <a:r>
              <a:rPr lang="en-IN" sz="1800" dirty="0"/>
              <a:t>.td-toxicity-score { </a:t>
            </a:r>
          </a:p>
          <a:p>
            <a:pPr marL="0" indent="0">
              <a:buNone/>
            </a:pPr>
            <a:r>
              <a:rPr lang="en-IN" sz="1800" dirty="0"/>
              <a:t>    Font-weight: 500; </a:t>
            </a:r>
          </a:p>
          <a:p>
            <a:pPr marL="0" indent="0">
              <a:buNone/>
            </a:pPr>
            <a:r>
              <a:rPr lang="en-IN" sz="1800" dirty="0"/>
              <a:t>    </a:t>
            </a:r>
            <a:r>
              <a:rPr lang="en-IN" sz="1800" dirty="0" err="1"/>
              <a:t>Color</a:t>
            </a:r>
            <a:r>
              <a:rPr lang="en-IN" sz="1800" dirty="0"/>
              <a:t>: #333; </a:t>
            </a:r>
          </a:p>
          <a:p>
            <a:pPr marL="0" indent="0">
              <a:buNone/>
            </a:pPr>
            <a:r>
              <a:rPr lang="en-IN" sz="1800" dirty="0"/>
              <a:t>} </a:t>
            </a:r>
          </a:p>
          <a:p>
            <a:pPr marL="0" indent="0">
              <a:buNone/>
            </a:pPr>
            <a:r>
              <a:rPr lang="en-IN" sz="1800" dirty="0"/>
              <a:t>/* Responsive adjustments */ </a:t>
            </a:r>
          </a:p>
          <a:p>
            <a:pPr marL="0" indent="0">
              <a:buNone/>
            </a:pPr>
            <a:r>
              <a:rPr lang="en-IN" sz="1800" dirty="0"/>
              <a:t>@media (max-width: 576px) { </a:t>
            </a:r>
          </a:p>
          <a:p>
            <a:pPr marL="0" indent="0">
              <a:buNone/>
            </a:pPr>
            <a:r>
              <a:rPr lang="en-IN" sz="1800" dirty="0"/>
              <a:t>    .container { </a:t>
            </a:r>
          </a:p>
          <a:p>
            <a:pPr marL="0" indent="0">
              <a:buNone/>
            </a:pPr>
            <a:r>
              <a:rPr lang="en-IN" sz="1800" dirty="0"/>
              <a:t>        Padding: 20px; </a:t>
            </a:r>
          </a:p>
          <a:p>
            <a:pPr marL="0" indent="0">
              <a:buNone/>
            </a:pPr>
            <a:r>
              <a:rPr lang="en-IN" sz="1800" dirty="0"/>
              <a:t>    } </a:t>
            </a:r>
          </a:p>
          <a:p>
            <a:pPr marL="0" indent="0">
              <a:buNone/>
            </a:pPr>
            <a:r>
              <a:rPr lang="en-IN" sz="1800" dirty="0"/>
              <a:t>    H1 { </a:t>
            </a:r>
          </a:p>
          <a:p>
            <a:pPr marL="0" indent="0">
              <a:buNone/>
            </a:pPr>
            <a:r>
              <a:rPr lang="en-IN" sz="1800" dirty="0"/>
              <a:t>        Font-size: 1.8rem;} </a:t>
            </a:r>
          </a:p>
          <a:p>
            <a:pPr marL="0" indent="0">
              <a:buNone/>
            </a:pPr>
            <a:r>
              <a:rPr lang="en-IN" sz="1800" dirty="0"/>
              <a:t>&lt;/style&gt; </a:t>
            </a:r>
          </a:p>
          <a:p>
            <a:pPr marL="0" indent="0">
              <a:buNone/>
            </a:pPr>
            <a:r>
              <a:rPr lang="en-IN" sz="1800" dirty="0"/>
              <a:t>&lt;/head&gt; </a:t>
            </a:r>
          </a:p>
        </p:txBody>
      </p:sp>
      <p:sp>
        <p:nvSpPr>
          <p:cNvPr id="18" name="Content Placeholder 17">
            <a:extLst>
              <a:ext uri="{FF2B5EF4-FFF2-40B4-BE49-F238E27FC236}">
                <a16:creationId xmlns:a16="http://schemas.microsoft.com/office/drawing/2014/main" id="{24A77C3C-CC39-7133-F5AB-3B878D209A99}"/>
              </a:ext>
            </a:extLst>
          </p:cNvPr>
          <p:cNvSpPr>
            <a:spLocks noGrp="1"/>
          </p:cNvSpPr>
          <p:nvPr>
            <p:ph sz="half" idx="2"/>
          </p:nvPr>
        </p:nvSpPr>
        <p:spPr>
          <a:xfrm>
            <a:off x="6600349" y="-312516"/>
            <a:ext cx="8030051" cy="8542116"/>
          </a:xfrm>
        </p:spPr>
        <p:txBody>
          <a:bodyPr>
            <a:noAutofit/>
          </a:bodyPr>
          <a:lstStyle/>
          <a:p>
            <a:pPr marL="0" indent="0">
              <a:buNone/>
            </a:pPr>
            <a:r>
              <a:rPr lang="en-IN" sz="1800" dirty="0"/>
              <a:t>&lt;body&gt; </a:t>
            </a:r>
          </a:p>
          <a:p>
            <a:pPr marL="0" indent="0">
              <a:buNone/>
            </a:pPr>
            <a:r>
              <a:rPr lang="en-IN" sz="1800" dirty="0"/>
              <a:t>    &lt;div class=”container”&gt; </a:t>
            </a:r>
          </a:p>
          <a:p>
            <a:pPr marL="0" indent="0">
              <a:buNone/>
            </a:pPr>
            <a:r>
              <a:rPr lang="en-IN" sz="1800" dirty="0"/>
              <a:t>        &lt;h1 class=”mt-5”&gt;YouTube Comment Toxicity Classifier&lt;/h1&gt; </a:t>
            </a:r>
          </a:p>
          <a:p>
            <a:pPr marL="0" indent="0">
              <a:buNone/>
            </a:pPr>
            <a:r>
              <a:rPr lang="en-IN" sz="1800" dirty="0"/>
              <a:t>        &lt;!—Input form for YouTube video ID → </a:t>
            </a:r>
          </a:p>
          <a:p>
            <a:pPr marL="0" indent="0">
              <a:buNone/>
            </a:pPr>
            <a:r>
              <a:rPr lang="en-IN" sz="1800" dirty="0"/>
              <a:t>        &lt;form action=”/process” method=”post” class=”mt-4”&gt; </a:t>
            </a:r>
          </a:p>
          <a:p>
            <a:pPr marL="0" indent="0">
              <a:buNone/>
            </a:pPr>
            <a:r>
              <a:rPr lang="en-IN" sz="1800" dirty="0"/>
              <a:t>            &lt;div class=”form-group”&gt; </a:t>
            </a:r>
          </a:p>
          <a:p>
            <a:pPr marL="0" indent="0">
              <a:buNone/>
            </a:pPr>
            <a:r>
              <a:rPr lang="en-IN" sz="1800" dirty="0"/>
              <a:t>                &lt;label for=”</a:t>
            </a:r>
            <a:r>
              <a:rPr lang="en-IN" sz="1800" dirty="0" err="1"/>
              <a:t>video_id</a:t>
            </a:r>
            <a:r>
              <a:rPr lang="en-IN" sz="1800" dirty="0"/>
              <a:t>”&gt;Enter YouTube Video </a:t>
            </a:r>
          </a:p>
          <a:p>
            <a:pPr marL="0" indent="0">
              <a:buNone/>
            </a:pPr>
            <a:r>
              <a:rPr lang="en-IN" sz="1800" dirty="0"/>
              <a:t>ID:&lt;/label&gt; </a:t>
            </a:r>
          </a:p>
          <a:p>
            <a:pPr marL="0" indent="0">
              <a:buNone/>
            </a:pPr>
            <a:r>
              <a:rPr lang="en-IN" sz="1800" dirty="0"/>
              <a:t>                &lt;input type=”text” class=”</a:t>
            </a:r>
            <a:r>
              <a:rPr lang="en-IN" sz="1800" dirty="0" err="1"/>
              <a:t>video_id</a:t>
            </a:r>
            <a:r>
              <a:rPr lang="en-IN" sz="1800" dirty="0"/>
              <a:t>” id=”</a:t>
            </a:r>
            <a:r>
              <a:rPr lang="en-IN" sz="1800" dirty="0" err="1"/>
              <a:t>video_id</a:t>
            </a:r>
            <a:r>
              <a:rPr lang="en-IN" sz="1800" dirty="0"/>
              <a:t>” </a:t>
            </a:r>
          </a:p>
          <a:p>
            <a:pPr marL="0" indent="0">
              <a:buNone/>
            </a:pPr>
            <a:r>
              <a:rPr lang="en-IN" sz="1800" dirty="0"/>
              <a:t>name=”</a:t>
            </a:r>
            <a:r>
              <a:rPr lang="en-IN" sz="1800" dirty="0" err="1"/>
              <a:t>video_id</a:t>
            </a:r>
            <a:r>
              <a:rPr lang="en-IN" sz="1800" dirty="0"/>
              <a:t>” required&gt; </a:t>
            </a:r>
          </a:p>
          <a:p>
            <a:pPr marL="0" indent="0">
              <a:buNone/>
            </a:pPr>
            <a:r>
              <a:rPr lang="en-IN" sz="1800" dirty="0"/>
              <a:t>            &lt;/div&gt; </a:t>
            </a:r>
          </a:p>
          <a:p>
            <a:pPr marL="0" indent="0">
              <a:buNone/>
            </a:pPr>
            <a:r>
              <a:rPr lang="en-IN" sz="1800" dirty="0"/>
              <a:t>            &lt;button type=”submit” class=”</a:t>
            </a:r>
            <a:r>
              <a:rPr lang="en-IN" sz="1800" dirty="0" err="1"/>
              <a:t>btn</a:t>
            </a:r>
            <a:r>
              <a:rPr lang="en-IN" sz="1800" dirty="0"/>
              <a:t> </a:t>
            </a:r>
            <a:r>
              <a:rPr lang="en-IN" sz="1800" dirty="0" err="1"/>
              <a:t>btn</a:t>
            </a:r>
            <a:r>
              <a:rPr lang="en-IN" sz="1800" dirty="0"/>
              <a:t>-primary”&gt;Process </a:t>
            </a:r>
          </a:p>
          <a:p>
            <a:pPr marL="0" indent="0">
              <a:buNone/>
            </a:pPr>
            <a:r>
              <a:rPr lang="en-IN" sz="1800" dirty="0"/>
              <a:t>Comments&lt;/button&gt; </a:t>
            </a:r>
          </a:p>
          <a:p>
            <a:pPr marL="0" indent="0">
              <a:buNone/>
            </a:pPr>
            <a:r>
              <a:rPr lang="en-IN" sz="1800" dirty="0"/>
              <a:t>        &lt;/form&gt; </a:t>
            </a:r>
          </a:p>
          <a:p>
            <a:pPr marL="0" indent="0">
              <a:buNone/>
            </a:pPr>
            <a:r>
              <a:rPr lang="en-IN" sz="1800" dirty="0"/>
              <a:t>        &lt;!—Display error if any → </a:t>
            </a:r>
          </a:p>
          <a:p>
            <a:pPr marL="0" indent="0">
              <a:buNone/>
            </a:pPr>
            <a:r>
              <a:rPr lang="en-IN" sz="1800" dirty="0"/>
              <a:t>        {% if error %} </a:t>
            </a:r>
          </a:p>
          <a:p>
            <a:pPr marL="0" indent="0">
              <a:buNone/>
            </a:pPr>
            <a:r>
              <a:rPr lang="en-IN" sz="1800" dirty="0"/>
              <a:t>            &lt;div class=”alert alert-danger mt-4”&gt;{{ error }}&lt;/div&gt; </a:t>
            </a:r>
          </a:p>
          <a:p>
            <a:pPr marL="0" indent="0">
              <a:buNone/>
            </a:pPr>
            <a:r>
              <a:rPr lang="en-IN" sz="1800" dirty="0"/>
              <a:t>        {% endif %} </a:t>
            </a:r>
          </a:p>
          <a:p>
            <a:pPr marL="0" indent="0">
              <a:buNone/>
            </a:pPr>
            <a:r>
              <a:rPr lang="en-IN" sz="1800" dirty="0"/>
              <a:t>        &lt;!—Display comments and toxicity analysis → </a:t>
            </a:r>
          </a:p>
          <a:p>
            <a:pPr marL="0" indent="0">
              <a:buNone/>
            </a:pPr>
            <a:r>
              <a:rPr lang="en-IN" sz="1800" dirty="0"/>
              <a:t>        {% if comments %} </a:t>
            </a:r>
          </a:p>
          <a:p>
            <a:pPr marL="0" indent="0">
              <a:buNone/>
            </a:pPr>
            <a:r>
              <a:rPr lang="en-IN" sz="1800" dirty="0"/>
              <a:t>            &lt;h3 class=”mt-5”&gt;Comments for Video ID: {{ </a:t>
            </a:r>
            <a:r>
              <a:rPr lang="en-IN" sz="1800" dirty="0" err="1"/>
              <a:t>video_id</a:t>
            </a:r>
            <a:r>
              <a:rPr lang="en-IN" sz="1800" dirty="0"/>
              <a:t> }}&lt;/h3&gt; </a:t>
            </a:r>
          </a:p>
        </p:txBody>
      </p:sp>
    </p:spTree>
    <p:extLst>
      <p:ext uri="{BB962C8B-B14F-4D97-AF65-F5344CB8AC3E}">
        <p14:creationId xmlns:p14="http://schemas.microsoft.com/office/powerpoint/2010/main" val="4018191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56E5-B727-5E01-AE13-BB93164004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9713B8-BF07-B50C-EDA5-0DF59ADDA05D}"/>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99789E2E-3B06-0209-3F1A-4E8DFD45B7F7}"/>
              </a:ext>
            </a:extLst>
          </p:cNvPr>
          <p:cNvSpPr/>
          <p:nvPr/>
        </p:nvSpPr>
        <p:spPr>
          <a:xfrm>
            <a:off x="0" y="-347240"/>
            <a:ext cx="14630400" cy="8542116"/>
          </a:xfrm>
          <a:prstGeom prst="rect">
            <a:avLst/>
          </a:prstGeom>
          <a:solidFill>
            <a:srgbClr val="F9F6F0"/>
          </a:solidFill>
          <a:ln/>
        </p:spPr>
      </p:sp>
      <p:sp>
        <p:nvSpPr>
          <p:cNvPr id="5" name="Text 2">
            <a:extLst>
              <a:ext uri="{FF2B5EF4-FFF2-40B4-BE49-F238E27FC236}">
                <a16:creationId xmlns:a16="http://schemas.microsoft.com/office/drawing/2014/main" id="{EAA5DB5F-DAE7-AFD4-6B0F-B7BCAF3CF964}"/>
              </a:ext>
            </a:extLst>
          </p:cNvPr>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PSEUDO CODE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96A4054C-50BB-901B-2017-68851795FEA8}"/>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E47D611F-1757-BB5D-646D-68FE2FDE7DF1}"/>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7" name="Content Placeholder 16">
            <a:extLst>
              <a:ext uri="{FF2B5EF4-FFF2-40B4-BE49-F238E27FC236}">
                <a16:creationId xmlns:a16="http://schemas.microsoft.com/office/drawing/2014/main" id="{236350EB-001B-D672-F188-216B1E2C42CA}"/>
              </a:ext>
            </a:extLst>
          </p:cNvPr>
          <p:cNvSpPr>
            <a:spLocks noGrp="1"/>
          </p:cNvSpPr>
          <p:nvPr>
            <p:ph sz="half" idx="1"/>
          </p:nvPr>
        </p:nvSpPr>
        <p:spPr>
          <a:xfrm>
            <a:off x="323850" y="1052950"/>
            <a:ext cx="6276499" cy="7141926"/>
          </a:xfrm>
        </p:spPr>
        <p:txBody>
          <a:bodyPr>
            <a:noAutofit/>
          </a:bodyPr>
          <a:lstStyle/>
          <a:p>
            <a:pPr marL="0" indent="0">
              <a:buNone/>
            </a:pPr>
            <a:r>
              <a:rPr lang="en-US" sz="1800" dirty="0"/>
              <a:t> &lt;table class=”table mt-3”&gt; </a:t>
            </a:r>
          </a:p>
          <a:p>
            <a:pPr marL="0" indent="0">
              <a:buNone/>
            </a:pPr>
            <a:r>
              <a:rPr lang="en-US" sz="1800" dirty="0"/>
              <a:t>                &lt;</a:t>
            </a:r>
            <a:r>
              <a:rPr lang="en-US" sz="1800" dirty="0" err="1"/>
              <a:t>thead</a:t>
            </a:r>
            <a:r>
              <a:rPr lang="en-US" sz="1800" dirty="0"/>
              <a:t>&gt; </a:t>
            </a:r>
          </a:p>
          <a:p>
            <a:pPr marL="0" indent="0">
              <a:buNone/>
            </a:pPr>
            <a:r>
              <a:rPr lang="en-US" sz="1800" dirty="0"/>
              <a:t>                    &lt;tr&gt; </a:t>
            </a:r>
          </a:p>
          <a:p>
            <a:pPr marL="0" indent="0">
              <a:buNone/>
            </a:pPr>
            <a:r>
              <a:rPr lang="en-US" sz="1800" dirty="0"/>
              <a:t>                        &lt;</a:t>
            </a:r>
            <a:r>
              <a:rPr lang="en-US" sz="1800" dirty="0" err="1"/>
              <a:t>th</a:t>
            </a:r>
            <a:r>
              <a:rPr lang="en-US" sz="1800" dirty="0"/>
              <a:t>&gt;Published At&lt;/</a:t>
            </a:r>
            <a:r>
              <a:rPr lang="en-US" sz="1800" dirty="0" err="1"/>
              <a:t>th</a:t>
            </a:r>
            <a:r>
              <a:rPr lang="en-US" sz="1800" dirty="0"/>
              <a:t>&gt; </a:t>
            </a:r>
          </a:p>
          <a:p>
            <a:pPr marL="0" indent="0">
              <a:buNone/>
            </a:pPr>
            <a:r>
              <a:rPr lang="en-US" sz="1800" dirty="0"/>
              <a:t>                        &lt;</a:t>
            </a:r>
            <a:r>
              <a:rPr lang="en-US" sz="1800" dirty="0" err="1"/>
              <a:t>th</a:t>
            </a:r>
            <a:r>
              <a:rPr lang="en-US" sz="1800" dirty="0"/>
              <a:t>&gt;Comment&lt;/</a:t>
            </a:r>
            <a:r>
              <a:rPr lang="en-US" sz="1800" dirty="0" err="1"/>
              <a:t>th</a:t>
            </a:r>
            <a:r>
              <a:rPr lang="en-US" sz="1800" dirty="0"/>
              <a:t>&gt;</a:t>
            </a:r>
          </a:p>
          <a:p>
            <a:pPr marL="0" indent="0">
              <a:buNone/>
            </a:pPr>
            <a:r>
              <a:rPr lang="en-US" sz="1800" dirty="0"/>
              <a:t>                        &lt;</a:t>
            </a:r>
            <a:r>
              <a:rPr lang="en-US" sz="1800" dirty="0" err="1"/>
              <a:t>th</a:t>
            </a:r>
            <a:r>
              <a:rPr lang="en-US" sz="1800" dirty="0"/>
              <a:t>&gt;sentiment&lt;/</a:t>
            </a:r>
            <a:r>
              <a:rPr lang="en-US" sz="1800" dirty="0" err="1"/>
              <a:t>th</a:t>
            </a:r>
            <a:r>
              <a:rPr lang="en-US" sz="1800" dirty="0"/>
              <a:t>&gt; </a:t>
            </a:r>
          </a:p>
          <a:p>
            <a:pPr marL="0" indent="0">
              <a:buNone/>
            </a:pPr>
            <a:r>
              <a:rPr lang="en-US" sz="1800" dirty="0"/>
              <a:t>                        &lt;</a:t>
            </a:r>
            <a:r>
              <a:rPr lang="en-US" sz="1800" dirty="0" err="1"/>
              <a:t>th</a:t>
            </a:r>
            <a:r>
              <a:rPr lang="en-US" sz="1800" dirty="0"/>
              <a:t>&gt;polarity&lt;/</a:t>
            </a:r>
            <a:r>
              <a:rPr lang="en-US" sz="1800" dirty="0" err="1"/>
              <a:t>th</a:t>
            </a:r>
            <a:r>
              <a:rPr lang="en-US" sz="1800" dirty="0"/>
              <a:t>&gt; </a:t>
            </a:r>
          </a:p>
          <a:p>
            <a:pPr marL="0" indent="0">
              <a:buNone/>
            </a:pPr>
            <a:r>
              <a:rPr lang="en-US" sz="1800" dirty="0"/>
              <a:t>                    &lt;/tr&gt; </a:t>
            </a:r>
          </a:p>
          <a:p>
            <a:pPr marL="0" indent="0">
              <a:buNone/>
            </a:pPr>
            <a:r>
              <a:rPr lang="en-US" sz="1800" dirty="0"/>
              <a:t>                &lt;/</a:t>
            </a:r>
            <a:r>
              <a:rPr lang="en-US" sz="1800" dirty="0" err="1"/>
              <a:t>thead</a:t>
            </a:r>
            <a:r>
              <a:rPr lang="en-US" sz="1800" dirty="0"/>
              <a:t>&gt; </a:t>
            </a:r>
          </a:p>
          <a:p>
            <a:pPr marL="0" indent="0">
              <a:buNone/>
            </a:pPr>
            <a:r>
              <a:rPr lang="en-US" sz="1800" dirty="0"/>
              <a:t>                &lt;</a:t>
            </a:r>
            <a:r>
              <a:rPr lang="en-US" sz="1800" dirty="0" err="1"/>
              <a:t>tbody</a:t>
            </a:r>
            <a:r>
              <a:rPr lang="en-US" sz="1800" dirty="0"/>
              <a:t>&gt; </a:t>
            </a:r>
          </a:p>
          <a:p>
            <a:pPr marL="0" indent="0">
              <a:buNone/>
            </a:pPr>
            <a:r>
              <a:rPr lang="en-US" sz="1800" dirty="0"/>
              <a:t>                    {% for comment in comments %} </a:t>
            </a:r>
          </a:p>
          <a:p>
            <a:pPr marL="0" indent="0">
              <a:buNone/>
            </a:pPr>
            <a:r>
              <a:rPr lang="en-US" sz="1800" dirty="0"/>
              <a:t>                        &lt;tr&gt; </a:t>
            </a:r>
          </a:p>
          <a:p>
            <a:pPr marL="0" indent="0">
              <a:buNone/>
            </a:pPr>
            <a:r>
              <a:rPr lang="en-US" sz="1800" dirty="0"/>
              <a:t>                            &lt;td&gt;{{ </a:t>
            </a:r>
            <a:r>
              <a:rPr lang="en-US" sz="1800" dirty="0" err="1"/>
              <a:t>comment.published_at</a:t>
            </a:r>
            <a:r>
              <a:rPr lang="en-US" sz="1800" dirty="0"/>
              <a:t> }}&lt;/td&gt; </a:t>
            </a:r>
          </a:p>
          <a:p>
            <a:pPr marL="0" indent="0">
              <a:buNone/>
            </a:pPr>
            <a:r>
              <a:rPr lang="en-US" sz="1800" dirty="0"/>
              <a:t>                            &lt;td&gt;{{ </a:t>
            </a:r>
            <a:r>
              <a:rPr lang="en-US" sz="1800" dirty="0" err="1"/>
              <a:t>comment.text</a:t>
            </a:r>
            <a:r>
              <a:rPr lang="en-US" sz="1800" dirty="0"/>
              <a:t> }}&lt;/td&gt; </a:t>
            </a:r>
          </a:p>
          <a:p>
            <a:pPr marL="0" indent="0">
              <a:buNone/>
            </a:pPr>
            <a:r>
              <a:rPr lang="en-US" sz="1800" dirty="0"/>
              <a:t>                            &lt;td&gt;{{ </a:t>
            </a:r>
            <a:r>
              <a:rPr lang="en-US" sz="1800" dirty="0" err="1"/>
              <a:t>comment.sentiment</a:t>
            </a:r>
            <a:r>
              <a:rPr lang="en-US" sz="1800" dirty="0"/>
              <a:t> }}&lt;/td&gt; </a:t>
            </a:r>
          </a:p>
          <a:p>
            <a:pPr marL="0" indent="0">
              <a:buNone/>
            </a:pPr>
            <a:r>
              <a:rPr lang="en-US" sz="1800" dirty="0"/>
              <a:t>                            &lt;td&gt;{{ </a:t>
            </a:r>
            <a:r>
              <a:rPr lang="en-US" sz="1800" dirty="0" err="1"/>
              <a:t>comment.polarity</a:t>
            </a:r>
            <a:r>
              <a:rPr lang="en-US" sz="1800" dirty="0"/>
              <a:t> }}&lt;/td&gt; </a:t>
            </a:r>
          </a:p>
          <a:p>
            <a:pPr marL="0" indent="0">
              <a:buNone/>
            </a:pPr>
            <a:r>
              <a:rPr lang="en-US" sz="1800" dirty="0"/>
              <a:t>                        &lt;/tr&gt; </a:t>
            </a:r>
          </a:p>
          <a:p>
            <a:pPr marL="0" indent="0">
              <a:buNone/>
            </a:pPr>
            <a:r>
              <a:rPr lang="en-US" sz="1800" dirty="0"/>
              <a:t>                    {% </a:t>
            </a:r>
            <a:r>
              <a:rPr lang="en-US" sz="1800" dirty="0" err="1"/>
              <a:t>endfor</a:t>
            </a:r>
            <a:r>
              <a:rPr lang="en-US" sz="1800" dirty="0"/>
              <a:t> %} </a:t>
            </a:r>
          </a:p>
          <a:p>
            <a:pPr marL="0" indent="0">
              <a:buNone/>
            </a:pPr>
            <a:r>
              <a:rPr lang="en-US" sz="1800" dirty="0"/>
              <a:t>                </a:t>
            </a:r>
            <a:endParaRPr lang="en-IN" sz="1800" dirty="0"/>
          </a:p>
        </p:txBody>
      </p:sp>
      <p:sp>
        <p:nvSpPr>
          <p:cNvPr id="18" name="Content Placeholder 17">
            <a:extLst>
              <a:ext uri="{FF2B5EF4-FFF2-40B4-BE49-F238E27FC236}">
                <a16:creationId xmlns:a16="http://schemas.microsoft.com/office/drawing/2014/main" id="{E0C76202-FC8A-B677-819C-EFCE1FE2C252}"/>
              </a:ext>
            </a:extLst>
          </p:cNvPr>
          <p:cNvSpPr>
            <a:spLocks noGrp="1"/>
          </p:cNvSpPr>
          <p:nvPr>
            <p:ph sz="half" idx="2"/>
          </p:nvPr>
        </p:nvSpPr>
        <p:spPr>
          <a:xfrm>
            <a:off x="6600349" y="-312516"/>
            <a:ext cx="8030051" cy="8542116"/>
          </a:xfrm>
        </p:spPr>
        <p:txBody>
          <a:bodyPr>
            <a:noAutofit/>
          </a:bodyPr>
          <a:lstStyle/>
          <a:p>
            <a:pPr marL="0" indent="0">
              <a:buNone/>
            </a:pPr>
            <a:r>
              <a:rPr lang="en-US" sz="1800" dirty="0"/>
              <a:t>&lt;/</a:t>
            </a:r>
            <a:r>
              <a:rPr lang="en-US" sz="1800" dirty="0" err="1"/>
              <a:t>tbody</a:t>
            </a:r>
            <a:r>
              <a:rPr lang="en-US" sz="1800" dirty="0"/>
              <a:t>&gt; </a:t>
            </a:r>
          </a:p>
          <a:p>
            <a:pPr marL="0" indent="0">
              <a:buNone/>
            </a:pPr>
            <a:r>
              <a:rPr lang="en-US" sz="1800" dirty="0"/>
              <a:t>            &lt;/table&gt; </a:t>
            </a:r>
          </a:p>
          <a:p>
            <a:pPr marL="0" indent="0">
              <a:buNone/>
            </a:pPr>
            <a:r>
              <a:rPr lang="en-US" sz="1800" dirty="0"/>
              <a:t>        {% endif %} </a:t>
            </a:r>
          </a:p>
          <a:p>
            <a:pPr marL="0" indent="0">
              <a:buNone/>
            </a:pPr>
            <a:r>
              <a:rPr lang="en-US" sz="1800" dirty="0"/>
              <a:t>    &lt;/div&gt; </a:t>
            </a:r>
          </a:p>
          <a:p>
            <a:pPr marL="0" indent="0">
              <a:buNone/>
            </a:pPr>
            <a:r>
              <a:rPr lang="en-US" sz="1800" dirty="0"/>
              <a:t>&lt;/body&gt; </a:t>
            </a:r>
          </a:p>
          <a:p>
            <a:pPr marL="0" indent="0">
              <a:buNone/>
            </a:pPr>
            <a:r>
              <a:rPr lang="en-US" sz="1800" dirty="0"/>
              <a:t>&lt;/html&gt; </a:t>
            </a:r>
          </a:p>
          <a:p>
            <a:pPr marL="0" indent="0">
              <a:buNone/>
            </a:pPr>
            <a:r>
              <a:rPr lang="en-IN" sz="1800" dirty="0"/>
              <a:t>From flask import Flask, </a:t>
            </a:r>
            <a:r>
              <a:rPr lang="en-IN" sz="1800" dirty="0" err="1"/>
              <a:t>render_template</a:t>
            </a:r>
            <a:r>
              <a:rPr lang="en-IN" sz="1800" dirty="0"/>
              <a:t>, request </a:t>
            </a:r>
          </a:p>
          <a:p>
            <a:pPr marL="0" indent="0">
              <a:buNone/>
            </a:pPr>
            <a:r>
              <a:rPr lang="en-IN" sz="1800" dirty="0"/>
              <a:t>Import </a:t>
            </a:r>
            <a:r>
              <a:rPr lang="en-IN" sz="1800" dirty="0" err="1"/>
              <a:t>googleapiclient.discovery</a:t>
            </a:r>
            <a:r>
              <a:rPr lang="en-IN" sz="1800" dirty="0"/>
              <a:t> </a:t>
            </a:r>
          </a:p>
          <a:p>
            <a:pPr marL="0" indent="0">
              <a:buNone/>
            </a:pPr>
            <a:r>
              <a:rPr lang="en-IN" sz="1800" dirty="0"/>
              <a:t>Import pandas as pd </a:t>
            </a:r>
          </a:p>
          <a:p>
            <a:pPr marL="0" indent="0">
              <a:buNone/>
            </a:pPr>
            <a:r>
              <a:rPr lang="en-IN" sz="1800" dirty="0"/>
              <a:t>From </a:t>
            </a:r>
            <a:r>
              <a:rPr lang="en-IN" sz="1800" dirty="0" err="1"/>
              <a:t>textblob</a:t>
            </a:r>
            <a:r>
              <a:rPr lang="en-IN" sz="1800" dirty="0"/>
              <a:t> import </a:t>
            </a:r>
            <a:r>
              <a:rPr lang="en-IN" sz="1800" dirty="0" err="1"/>
              <a:t>TextBlob</a:t>
            </a:r>
            <a:r>
              <a:rPr lang="en-IN" sz="1800" dirty="0"/>
              <a:t> </a:t>
            </a:r>
          </a:p>
          <a:p>
            <a:pPr marL="0" indent="0">
              <a:buNone/>
            </a:pPr>
            <a:r>
              <a:rPr lang="en-IN" sz="1800" dirty="0"/>
              <a:t># Initialize Flask app </a:t>
            </a:r>
          </a:p>
          <a:p>
            <a:pPr marL="0" indent="0">
              <a:buNone/>
            </a:pPr>
            <a:r>
              <a:rPr lang="en-IN" sz="1800" dirty="0"/>
              <a:t>App = Flask(__name__) </a:t>
            </a:r>
          </a:p>
          <a:p>
            <a:pPr marL="0" indent="0">
              <a:buNone/>
            </a:pPr>
            <a:r>
              <a:rPr lang="en-IN" sz="1800" dirty="0"/>
              <a:t># YouTube API setup </a:t>
            </a:r>
          </a:p>
          <a:p>
            <a:pPr marL="0" indent="0">
              <a:buNone/>
            </a:pPr>
            <a:r>
              <a:rPr lang="en-IN" sz="1800" dirty="0" err="1"/>
              <a:t>Api_service_name</a:t>
            </a:r>
            <a:r>
              <a:rPr lang="en-IN" sz="1800" dirty="0"/>
              <a:t> = “</a:t>
            </a:r>
            <a:r>
              <a:rPr lang="en-IN" sz="1800" dirty="0" err="1"/>
              <a:t>youtube</a:t>
            </a:r>
            <a:r>
              <a:rPr lang="en-IN" sz="1800" dirty="0"/>
              <a:t>” </a:t>
            </a:r>
          </a:p>
          <a:p>
            <a:pPr marL="0" indent="0">
              <a:buNone/>
            </a:pPr>
            <a:r>
              <a:rPr lang="en-IN" sz="1800" dirty="0" err="1"/>
              <a:t>Api_version</a:t>
            </a:r>
            <a:r>
              <a:rPr lang="en-IN" sz="1800" dirty="0"/>
              <a:t> = “v3” </a:t>
            </a:r>
          </a:p>
          <a:p>
            <a:pPr marL="0" indent="0">
              <a:buNone/>
            </a:pPr>
            <a:r>
              <a:rPr lang="en-IN" sz="1800" dirty="0"/>
              <a:t>DEVELOPER_KEY = “AizaSyAJsP1D2KwOoCZrNwpcyWMJWY5eq2T4ONQ” </a:t>
            </a:r>
          </a:p>
          <a:p>
            <a:pPr marL="0" indent="0">
              <a:buNone/>
            </a:pPr>
            <a:r>
              <a:rPr lang="en-IN" sz="1800" dirty="0"/>
              <a:t>Def </a:t>
            </a:r>
            <a:r>
              <a:rPr lang="en-IN" sz="1800" dirty="0" err="1"/>
              <a:t>classify_sentiment</a:t>
            </a:r>
            <a:r>
              <a:rPr lang="en-IN" sz="1800" dirty="0"/>
              <a:t>(comment): </a:t>
            </a:r>
          </a:p>
          <a:p>
            <a:pPr marL="0" indent="0">
              <a:buNone/>
            </a:pPr>
            <a:r>
              <a:rPr lang="en-IN" sz="1800" dirty="0"/>
              <a:t>    # Create a </a:t>
            </a:r>
            <a:r>
              <a:rPr lang="en-IN" sz="1800" dirty="0" err="1"/>
              <a:t>TextBlob</a:t>
            </a:r>
            <a:r>
              <a:rPr lang="en-IN" sz="1800" dirty="0"/>
              <a:t> object </a:t>
            </a:r>
          </a:p>
          <a:p>
            <a:pPr marL="0" indent="0">
              <a:buNone/>
            </a:pPr>
            <a:r>
              <a:rPr lang="en-IN" sz="1800" dirty="0"/>
              <a:t>    Blob = </a:t>
            </a:r>
            <a:r>
              <a:rPr lang="en-IN" sz="1800" dirty="0" err="1"/>
              <a:t>TextBlob</a:t>
            </a:r>
            <a:r>
              <a:rPr lang="en-IN" sz="1800" dirty="0"/>
              <a:t>(comment) </a:t>
            </a:r>
          </a:p>
          <a:p>
            <a:pPr marL="0" indent="0">
              <a:buNone/>
            </a:pPr>
            <a:r>
              <a:rPr lang="en-IN" sz="1800" dirty="0"/>
              <a:t>    # Get polarity and subjectivity </a:t>
            </a:r>
          </a:p>
          <a:p>
            <a:pPr marL="0" indent="0">
              <a:buNone/>
            </a:pPr>
            <a:r>
              <a:rPr lang="en-IN" sz="1800" dirty="0"/>
              <a:t>    Polarity = </a:t>
            </a:r>
            <a:r>
              <a:rPr lang="en-IN" sz="1800" dirty="0" err="1"/>
              <a:t>blob.sentiment.polarity</a:t>
            </a:r>
            <a:r>
              <a:rPr lang="en-IN" sz="1800" dirty="0"/>
              <a:t> </a:t>
            </a:r>
          </a:p>
        </p:txBody>
      </p:sp>
    </p:spTree>
    <p:extLst>
      <p:ext uri="{BB962C8B-B14F-4D97-AF65-F5344CB8AC3E}">
        <p14:creationId xmlns:p14="http://schemas.microsoft.com/office/powerpoint/2010/main" val="1642610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C7F6A-868F-85E8-60E0-47BB2198EE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A1A4DB-913B-3EEC-F4FA-B41AEFA88C32}"/>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414449EC-2627-2D46-9A67-738D9038436A}"/>
              </a:ext>
            </a:extLst>
          </p:cNvPr>
          <p:cNvSpPr/>
          <p:nvPr/>
        </p:nvSpPr>
        <p:spPr>
          <a:xfrm>
            <a:off x="0" y="-347240"/>
            <a:ext cx="14630400" cy="8542116"/>
          </a:xfrm>
          <a:prstGeom prst="rect">
            <a:avLst/>
          </a:prstGeom>
          <a:solidFill>
            <a:srgbClr val="F9F6F0"/>
          </a:solidFill>
          <a:ln/>
        </p:spPr>
      </p:sp>
      <p:sp>
        <p:nvSpPr>
          <p:cNvPr id="5" name="Text 2">
            <a:extLst>
              <a:ext uri="{FF2B5EF4-FFF2-40B4-BE49-F238E27FC236}">
                <a16:creationId xmlns:a16="http://schemas.microsoft.com/office/drawing/2014/main" id="{802A9873-0D22-D478-A485-E2FD691894CC}"/>
              </a:ext>
            </a:extLst>
          </p:cNvPr>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PSEUDO CODE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D66EE17C-6151-A701-7F4C-7459A8CC5C17}"/>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4DF1D51F-41A5-E502-C84A-B070E8B88ECD}"/>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7" name="Content Placeholder 16">
            <a:extLst>
              <a:ext uri="{FF2B5EF4-FFF2-40B4-BE49-F238E27FC236}">
                <a16:creationId xmlns:a16="http://schemas.microsoft.com/office/drawing/2014/main" id="{C1C4922E-6BF3-7C0E-8AF6-868C469E608D}"/>
              </a:ext>
            </a:extLst>
          </p:cNvPr>
          <p:cNvSpPr>
            <a:spLocks noGrp="1"/>
          </p:cNvSpPr>
          <p:nvPr>
            <p:ph sz="half" idx="1"/>
          </p:nvPr>
        </p:nvSpPr>
        <p:spPr>
          <a:xfrm>
            <a:off x="323850" y="1052950"/>
            <a:ext cx="6899910" cy="7176649"/>
          </a:xfrm>
        </p:spPr>
        <p:txBody>
          <a:bodyPr>
            <a:noAutofit/>
          </a:bodyPr>
          <a:lstStyle/>
          <a:p>
            <a:pPr marL="0" indent="0">
              <a:buNone/>
            </a:pPr>
            <a:r>
              <a:rPr lang="en-IN" sz="1800" dirty="0"/>
              <a:t> Subjectivity = </a:t>
            </a:r>
            <a:r>
              <a:rPr lang="en-IN" sz="1800" dirty="0" err="1"/>
              <a:t>blob.sentiment.subjectivity</a:t>
            </a:r>
            <a:r>
              <a:rPr lang="en-IN" sz="1800" dirty="0"/>
              <a:t> </a:t>
            </a:r>
          </a:p>
          <a:p>
            <a:pPr marL="0" indent="0">
              <a:buNone/>
            </a:pPr>
            <a:r>
              <a:rPr lang="en-IN" sz="1800" dirty="0"/>
              <a:t>    # Define a simple rule for toxic comments based on polarity </a:t>
            </a:r>
          </a:p>
          <a:p>
            <a:pPr marL="0" indent="0">
              <a:buNone/>
            </a:pPr>
            <a:r>
              <a:rPr lang="en-IN" sz="1800" dirty="0"/>
              <a:t>    If polarity &lt; -0.5:  # If sentiment is negative and very strong </a:t>
            </a:r>
          </a:p>
          <a:p>
            <a:pPr marL="0" indent="0">
              <a:buNone/>
            </a:pPr>
            <a:r>
              <a:rPr lang="en-IN" sz="1800" dirty="0"/>
              <a:t>        Sentiment = “Toxic” </a:t>
            </a:r>
          </a:p>
          <a:p>
            <a:pPr marL="0" indent="0">
              <a:buNone/>
            </a:pPr>
            <a:r>
              <a:rPr lang="en-IN" sz="1800" dirty="0"/>
              <a:t>   </a:t>
            </a:r>
            <a:r>
              <a:rPr lang="en-US" sz="1800" dirty="0"/>
              <a:t> Elif polarity &gt; 0.5:  # If sentiment is positive </a:t>
            </a:r>
          </a:p>
          <a:p>
            <a:pPr marL="0" indent="0">
              <a:buNone/>
            </a:pPr>
            <a:r>
              <a:rPr lang="en-US" sz="1800" dirty="0"/>
              <a:t>        Sentiment = “Non-Toxic” </a:t>
            </a:r>
          </a:p>
          <a:p>
            <a:pPr marL="0" indent="0">
              <a:buNone/>
            </a:pPr>
            <a:r>
              <a:rPr lang="en-US" sz="1800" dirty="0"/>
              <a:t>    Else: </a:t>
            </a:r>
          </a:p>
          <a:p>
            <a:pPr marL="0" indent="0">
              <a:buNone/>
            </a:pPr>
            <a:r>
              <a:rPr lang="en-IN" sz="1800" dirty="0"/>
              <a:t>         Sentiment = “Neutral” </a:t>
            </a:r>
          </a:p>
          <a:p>
            <a:pPr marL="0" indent="0">
              <a:buNone/>
            </a:pPr>
            <a:r>
              <a:rPr lang="en-IN" sz="1800" dirty="0"/>
              <a:t>    # You can also consider subjectivity to help in classification </a:t>
            </a:r>
          </a:p>
          <a:p>
            <a:pPr marL="0" indent="0">
              <a:buNone/>
            </a:pPr>
            <a:r>
              <a:rPr lang="en-IN" sz="1800" dirty="0"/>
              <a:t>(optional) </a:t>
            </a:r>
          </a:p>
          <a:p>
            <a:pPr marL="0" indent="0">
              <a:buNone/>
            </a:pPr>
            <a:r>
              <a:rPr lang="en-IN" sz="1800" dirty="0"/>
              <a:t>    Return sentiment, polarity, subjectivity </a:t>
            </a:r>
          </a:p>
          <a:p>
            <a:pPr marL="0" indent="0">
              <a:buNone/>
            </a:pPr>
            <a:r>
              <a:rPr lang="en-IN" sz="1800" dirty="0"/>
              <a:t># Fetch comments from YouTube API </a:t>
            </a:r>
          </a:p>
          <a:p>
            <a:pPr marL="0" indent="0">
              <a:buNone/>
            </a:pPr>
            <a:r>
              <a:rPr lang="en-IN" sz="1800" dirty="0"/>
              <a:t>Def </a:t>
            </a:r>
            <a:r>
              <a:rPr lang="en-IN" sz="1800" dirty="0" err="1"/>
              <a:t>fetch_comments</a:t>
            </a:r>
            <a:r>
              <a:rPr lang="en-IN" sz="1800" dirty="0"/>
              <a:t>(</a:t>
            </a:r>
            <a:r>
              <a:rPr lang="en-IN" sz="1800" dirty="0" err="1"/>
              <a:t>video_id</a:t>
            </a:r>
            <a:r>
              <a:rPr lang="en-IN" sz="1800" dirty="0"/>
              <a:t>): </a:t>
            </a:r>
          </a:p>
          <a:p>
            <a:pPr marL="0" indent="0">
              <a:buNone/>
            </a:pPr>
            <a:r>
              <a:rPr lang="en-IN" sz="1800" dirty="0"/>
              <a:t>    </a:t>
            </a:r>
            <a:r>
              <a:rPr lang="en-IN" sz="1800" dirty="0" err="1"/>
              <a:t>Youtube</a:t>
            </a:r>
            <a:r>
              <a:rPr lang="en-IN" sz="1800" dirty="0"/>
              <a:t> = </a:t>
            </a:r>
            <a:r>
              <a:rPr lang="en-IN" sz="1800" dirty="0" err="1"/>
              <a:t>googleapiclient.discovery.build</a:t>
            </a:r>
            <a:r>
              <a:rPr lang="en-IN" sz="1800" dirty="0"/>
              <a:t>(</a:t>
            </a:r>
            <a:r>
              <a:rPr lang="en-IN" sz="1800" dirty="0" err="1"/>
              <a:t>api_service_name</a:t>
            </a:r>
            <a:r>
              <a:rPr lang="en-IN" sz="1800" dirty="0"/>
              <a:t>, </a:t>
            </a:r>
          </a:p>
          <a:p>
            <a:pPr marL="0" indent="0">
              <a:buNone/>
            </a:pPr>
            <a:r>
              <a:rPr lang="en-IN" sz="1800" dirty="0" err="1"/>
              <a:t>api_version</a:t>
            </a:r>
            <a:r>
              <a:rPr lang="en-IN" sz="1800" dirty="0"/>
              <a:t>, </a:t>
            </a:r>
            <a:r>
              <a:rPr lang="en-IN" sz="1800" dirty="0" err="1"/>
              <a:t>developerKey</a:t>
            </a:r>
            <a:r>
              <a:rPr lang="en-IN" sz="1800" dirty="0"/>
              <a:t>=DEVELOPER_KEY) </a:t>
            </a:r>
          </a:p>
          <a:p>
            <a:pPr marL="0" indent="0">
              <a:buNone/>
            </a:pPr>
            <a:r>
              <a:rPr lang="en-IN" sz="1800" dirty="0"/>
              <a:t>    Request = </a:t>
            </a:r>
            <a:r>
              <a:rPr lang="en-IN" sz="1800" dirty="0" err="1"/>
              <a:t>youtube.commentThreads</a:t>
            </a:r>
            <a:r>
              <a:rPr lang="en-IN" sz="1800" dirty="0"/>
              <a:t>().list(part=”snippet”, </a:t>
            </a:r>
          </a:p>
          <a:p>
            <a:pPr marL="0" indent="0">
              <a:buNone/>
            </a:pPr>
            <a:r>
              <a:rPr lang="en-IN" sz="1800" dirty="0" err="1"/>
              <a:t>videoId</a:t>
            </a:r>
            <a:r>
              <a:rPr lang="en-IN" sz="1800" dirty="0"/>
              <a:t>=</a:t>
            </a:r>
            <a:r>
              <a:rPr lang="en-IN" sz="1800" dirty="0" err="1"/>
              <a:t>video_id</a:t>
            </a:r>
            <a:r>
              <a:rPr lang="en-IN" sz="1800" dirty="0"/>
              <a:t>, </a:t>
            </a:r>
            <a:r>
              <a:rPr lang="en-IN" sz="1800" dirty="0" err="1"/>
              <a:t>maxResults</a:t>
            </a:r>
            <a:r>
              <a:rPr lang="en-IN" sz="1800" dirty="0"/>
              <a:t>=10) </a:t>
            </a:r>
          </a:p>
          <a:p>
            <a:pPr marL="0" indent="0">
              <a:buNone/>
            </a:pPr>
            <a:r>
              <a:rPr lang="en-IN" sz="1800" dirty="0"/>
              <a:t>    Response = </a:t>
            </a:r>
            <a:r>
              <a:rPr lang="en-IN" sz="1800" dirty="0" err="1"/>
              <a:t>request.execute</a:t>
            </a:r>
            <a:r>
              <a:rPr lang="en-IN" sz="1800" dirty="0"/>
              <a:t>() </a:t>
            </a:r>
          </a:p>
        </p:txBody>
      </p:sp>
      <p:sp>
        <p:nvSpPr>
          <p:cNvPr id="18" name="Content Placeholder 17">
            <a:extLst>
              <a:ext uri="{FF2B5EF4-FFF2-40B4-BE49-F238E27FC236}">
                <a16:creationId xmlns:a16="http://schemas.microsoft.com/office/drawing/2014/main" id="{08D6E634-FCF7-62F5-53BB-76EDF878C91C}"/>
              </a:ext>
            </a:extLst>
          </p:cNvPr>
          <p:cNvSpPr>
            <a:spLocks noGrp="1"/>
          </p:cNvSpPr>
          <p:nvPr>
            <p:ph sz="half" idx="2"/>
          </p:nvPr>
        </p:nvSpPr>
        <p:spPr>
          <a:xfrm>
            <a:off x="6600349" y="-312516"/>
            <a:ext cx="8030051" cy="8542116"/>
          </a:xfrm>
        </p:spPr>
        <p:txBody>
          <a:bodyPr>
            <a:noAutofit/>
          </a:bodyPr>
          <a:lstStyle/>
          <a:p>
            <a:pPr marL="0" indent="0">
              <a:buNone/>
            </a:pPr>
            <a:r>
              <a:rPr lang="en-IN" sz="1800" dirty="0"/>
              <a:t> Comments = [] </a:t>
            </a:r>
          </a:p>
          <a:p>
            <a:pPr marL="0" indent="0">
              <a:buNone/>
            </a:pPr>
            <a:r>
              <a:rPr lang="en-IN" sz="1800" dirty="0"/>
              <a:t>    For item in response[‘items’]: </a:t>
            </a:r>
          </a:p>
          <a:p>
            <a:pPr marL="0" indent="0">
              <a:buNone/>
            </a:pPr>
            <a:r>
              <a:rPr lang="en-IN" sz="1800" dirty="0"/>
              <a:t>        Comment = item[‘snippet’][‘</a:t>
            </a:r>
            <a:r>
              <a:rPr lang="en-IN" sz="1800" dirty="0" err="1"/>
              <a:t>topLevelComment</a:t>
            </a:r>
            <a:r>
              <a:rPr lang="en-IN" sz="1800" dirty="0"/>
              <a:t>’][‘snippet’] </a:t>
            </a:r>
          </a:p>
          <a:p>
            <a:pPr marL="0" indent="0">
              <a:buNone/>
            </a:pPr>
            <a:r>
              <a:rPr lang="en-IN" sz="1800" dirty="0"/>
              <a:t>        </a:t>
            </a:r>
            <a:r>
              <a:rPr lang="en-IN" sz="1800" dirty="0" err="1"/>
              <a:t>Comments.append</a:t>
            </a:r>
            <a:r>
              <a:rPr lang="en-IN" sz="1800" dirty="0"/>
              <a:t>({ </a:t>
            </a:r>
          </a:p>
          <a:p>
            <a:pPr marL="0" indent="0">
              <a:buNone/>
            </a:pPr>
            <a:r>
              <a:rPr lang="en-IN" sz="1800" dirty="0"/>
              <a:t>            ‘author’: comment[‘</a:t>
            </a:r>
            <a:r>
              <a:rPr lang="en-IN" sz="1800" dirty="0" err="1"/>
              <a:t>authorDisplayName</a:t>
            </a:r>
            <a:r>
              <a:rPr lang="en-IN" sz="1800" dirty="0"/>
              <a:t>’], </a:t>
            </a:r>
          </a:p>
          <a:p>
            <a:pPr marL="0" indent="0">
              <a:buNone/>
            </a:pPr>
            <a:r>
              <a:rPr lang="en-IN" sz="1800" dirty="0"/>
              <a:t>            ‘</a:t>
            </a:r>
            <a:r>
              <a:rPr lang="en-IN" sz="1800" dirty="0" err="1"/>
              <a:t>published_at</a:t>
            </a:r>
            <a:r>
              <a:rPr lang="en-IN" sz="1800" dirty="0"/>
              <a:t>’: comment[‘</a:t>
            </a:r>
            <a:r>
              <a:rPr lang="en-IN" sz="1800" dirty="0" err="1"/>
              <a:t>publishedAt</a:t>
            </a:r>
            <a:r>
              <a:rPr lang="en-IN" sz="1800" dirty="0"/>
              <a:t>’], </a:t>
            </a:r>
          </a:p>
          <a:p>
            <a:pPr marL="0" indent="0">
              <a:buNone/>
            </a:pPr>
            <a:r>
              <a:rPr lang="en-IN" sz="1800" dirty="0"/>
              <a:t>            ‘</a:t>
            </a:r>
            <a:r>
              <a:rPr lang="en-IN" sz="1800" dirty="0" err="1"/>
              <a:t>updated_at</a:t>
            </a:r>
            <a:r>
              <a:rPr lang="en-IN" sz="1800" dirty="0"/>
              <a:t>’: comment[‘</a:t>
            </a:r>
            <a:r>
              <a:rPr lang="en-IN" sz="1800" dirty="0" err="1"/>
              <a:t>updatedAt</a:t>
            </a:r>
            <a:r>
              <a:rPr lang="en-IN" sz="1800" dirty="0"/>
              <a:t>’], </a:t>
            </a:r>
          </a:p>
          <a:p>
            <a:pPr marL="0" indent="0">
              <a:buNone/>
            </a:pPr>
            <a:r>
              <a:rPr lang="en-IN" sz="1800" dirty="0"/>
              <a:t>            ‘</a:t>
            </a:r>
            <a:r>
              <a:rPr lang="en-IN" sz="1800" dirty="0" err="1"/>
              <a:t>like_count</a:t>
            </a:r>
            <a:r>
              <a:rPr lang="en-IN" sz="1800" dirty="0"/>
              <a:t>’: comment[‘</a:t>
            </a:r>
            <a:r>
              <a:rPr lang="en-IN" sz="1800" dirty="0" err="1"/>
              <a:t>likeCount</a:t>
            </a:r>
            <a:r>
              <a:rPr lang="en-IN" sz="1800" dirty="0"/>
              <a:t>’], </a:t>
            </a:r>
          </a:p>
          <a:p>
            <a:pPr marL="0" indent="0">
              <a:buNone/>
            </a:pPr>
            <a:r>
              <a:rPr lang="en-IN" sz="1800" dirty="0"/>
              <a:t>            ‘text’: comment[‘</a:t>
            </a:r>
            <a:r>
              <a:rPr lang="en-IN" sz="1800" dirty="0" err="1"/>
              <a:t>textDisplay</a:t>
            </a:r>
            <a:r>
              <a:rPr lang="en-IN" sz="1800" dirty="0"/>
              <a:t>’] </a:t>
            </a:r>
          </a:p>
          <a:p>
            <a:pPr marL="0" indent="0">
              <a:buNone/>
            </a:pPr>
            <a:r>
              <a:rPr lang="en-IN" sz="1800" dirty="0"/>
              <a:t>        }) </a:t>
            </a:r>
          </a:p>
          <a:p>
            <a:pPr marL="0" indent="0">
              <a:buNone/>
            </a:pPr>
            <a:r>
              <a:rPr lang="en-IN" sz="1800" dirty="0"/>
              <a:t>    Return comments </a:t>
            </a:r>
          </a:p>
          <a:p>
            <a:pPr marL="0" indent="0">
              <a:buNone/>
            </a:pPr>
            <a:r>
              <a:rPr lang="en-IN" sz="1800" dirty="0"/>
              <a:t># Home route </a:t>
            </a:r>
          </a:p>
          <a:p>
            <a:pPr marL="0" indent="0">
              <a:buNone/>
            </a:pPr>
            <a:r>
              <a:rPr lang="en-IN" sz="1800" dirty="0"/>
              <a:t>@app.route(‘/’) </a:t>
            </a:r>
          </a:p>
          <a:p>
            <a:pPr marL="0" indent="0">
              <a:buNone/>
            </a:pPr>
            <a:r>
              <a:rPr lang="en-IN" sz="1800" dirty="0"/>
              <a:t>Def index(): </a:t>
            </a:r>
          </a:p>
          <a:p>
            <a:pPr marL="0" indent="0">
              <a:buNone/>
            </a:pPr>
            <a:r>
              <a:rPr lang="en-IN" sz="1800" dirty="0"/>
              <a:t>    Return </a:t>
            </a:r>
            <a:r>
              <a:rPr lang="en-IN" sz="1800" dirty="0" err="1"/>
              <a:t>render_template</a:t>
            </a:r>
            <a:r>
              <a:rPr lang="en-IN" sz="1800" dirty="0"/>
              <a:t>(‘index.html’) </a:t>
            </a:r>
          </a:p>
          <a:p>
            <a:pPr marL="0" indent="0">
              <a:buNone/>
            </a:pPr>
            <a:r>
              <a:rPr lang="en-IN" sz="1800" dirty="0"/>
              <a:t># Route to process YouTube video ID and display comments </a:t>
            </a:r>
          </a:p>
          <a:p>
            <a:pPr marL="0" indent="0">
              <a:buNone/>
            </a:pPr>
            <a:r>
              <a:rPr lang="en-IN" sz="1800" dirty="0"/>
              <a:t>@app.route(‘/process’, methods=[‘POST’]) </a:t>
            </a:r>
          </a:p>
          <a:p>
            <a:pPr marL="0" indent="0">
              <a:buNone/>
            </a:pPr>
            <a:r>
              <a:rPr lang="en-IN" sz="1800" dirty="0"/>
              <a:t>Def </a:t>
            </a:r>
            <a:r>
              <a:rPr lang="en-IN" sz="1800" dirty="0" err="1"/>
              <a:t>process_comments</a:t>
            </a:r>
            <a:r>
              <a:rPr lang="en-IN" sz="1800" dirty="0"/>
              <a:t>(): </a:t>
            </a:r>
          </a:p>
          <a:p>
            <a:pPr marL="0" indent="0">
              <a:buNone/>
            </a:pPr>
            <a:r>
              <a:rPr lang="en-IN" sz="1800" dirty="0"/>
              <a:t>    </a:t>
            </a:r>
            <a:r>
              <a:rPr lang="en-IN" sz="1800" dirty="0" err="1"/>
              <a:t>Video_id</a:t>
            </a:r>
            <a:r>
              <a:rPr lang="en-IN" sz="1800" dirty="0"/>
              <a:t> = </a:t>
            </a:r>
            <a:r>
              <a:rPr lang="en-IN" sz="1800" dirty="0" err="1"/>
              <a:t>request.form</a:t>
            </a:r>
            <a:r>
              <a:rPr lang="en-IN" sz="1800" dirty="0"/>
              <a:t>[‘</a:t>
            </a:r>
            <a:r>
              <a:rPr lang="en-IN" sz="1800" dirty="0" err="1"/>
              <a:t>video_id</a:t>
            </a:r>
            <a:r>
              <a:rPr lang="en-IN" sz="1800" dirty="0"/>
              <a:t>’] </a:t>
            </a:r>
          </a:p>
          <a:p>
            <a:pPr marL="0" indent="0">
              <a:buNone/>
            </a:pPr>
            <a:r>
              <a:rPr lang="en-IN" sz="1800" dirty="0"/>
              <a:t>    If not </a:t>
            </a:r>
            <a:r>
              <a:rPr lang="en-IN" sz="1800" dirty="0" err="1"/>
              <a:t>video_id</a:t>
            </a:r>
            <a:r>
              <a:rPr lang="en-IN" sz="1800" dirty="0"/>
              <a:t>: </a:t>
            </a:r>
          </a:p>
          <a:p>
            <a:pPr marL="0" indent="0">
              <a:buNone/>
            </a:pPr>
            <a:r>
              <a:rPr lang="en-IN" sz="1800" dirty="0"/>
              <a:t>        Return </a:t>
            </a:r>
            <a:r>
              <a:rPr lang="en-IN" sz="1800" dirty="0" err="1"/>
              <a:t>render_template</a:t>
            </a:r>
            <a:r>
              <a:rPr lang="en-IN" sz="1800" dirty="0"/>
              <a:t>(‘index.html’, error=”Please enter a valid YouTube video ID.”) </a:t>
            </a:r>
          </a:p>
          <a:p>
            <a:pPr marL="0" indent="0">
              <a:buNone/>
            </a:pPr>
            <a:r>
              <a:rPr lang="en-IN" sz="1800" dirty="0"/>
              <a:t> </a:t>
            </a:r>
          </a:p>
        </p:txBody>
      </p:sp>
    </p:spTree>
    <p:extLst>
      <p:ext uri="{BB962C8B-B14F-4D97-AF65-F5344CB8AC3E}">
        <p14:creationId xmlns:p14="http://schemas.microsoft.com/office/powerpoint/2010/main" val="1767660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8F013-9567-CA04-46E7-A50B6C9731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EA95C32-31ED-B7CD-8432-39D19D1F5304}"/>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45B9874F-40E2-71F0-9976-46B3F6C1866C}"/>
              </a:ext>
            </a:extLst>
          </p:cNvPr>
          <p:cNvSpPr/>
          <p:nvPr/>
        </p:nvSpPr>
        <p:spPr>
          <a:xfrm>
            <a:off x="0" y="-347240"/>
            <a:ext cx="14630400" cy="8542116"/>
          </a:xfrm>
          <a:prstGeom prst="rect">
            <a:avLst/>
          </a:prstGeom>
          <a:solidFill>
            <a:srgbClr val="F9F6F0"/>
          </a:solidFill>
          <a:ln/>
        </p:spPr>
      </p:sp>
      <p:sp>
        <p:nvSpPr>
          <p:cNvPr id="5" name="Text 2">
            <a:extLst>
              <a:ext uri="{FF2B5EF4-FFF2-40B4-BE49-F238E27FC236}">
                <a16:creationId xmlns:a16="http://schemas.microsoft.com/office/drawing/2014/main" id="{D3CAFF6E-D0B8-7B55-0F4F-2828F2B46ECE}"/>
              </a:ext>
            </a:extLst>
          </p:cNvPr>
          <p:cNvSpPr/>
          <p:nvPr/>
        </p:nvSpPr>
        <p:spPr>
          <a:xfrm>
            <a:off x="0" y="319525"/>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PSEUDO CODE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AD62E23A-DDC3-948A-3446-3ABA1E02AE2C}"/>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7F8BEAD0-CD50-4B6E-1A4D-F5041A03AFFF}"/>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7" name="Content Placeholder 16">
            <a:extLst>
              <a:ext uri="{FF2B5EF4-FFF2-40B4-BE49-F238E27FC236}">
                <a16:creationId xmlns:a16="http://schemas.microsoft.com/office/drawing/2014/main" id="{3D474E95-B20A-13DE-7B6E-568AD5582BCF}"/>
              </a:ext>
            </a:extLst>
          </p:cNvPr>
          <p:cNvSpPr>
            <a:spLocks noGrp="1"/>
          </p:cNvSpPr>
          <p:nvPr>
            <p:ph sz="half" idx="1"/>
          </p:nvPr>
        </p:nvSpPr>
        <p:spPr>
          <a:xfrm>
            <a:off x="685800" y="1548250"/>
            <a:ext cx="6629400" cy="7176649"/>
          </a:xfrm>
        </p:spPr>
        <p:txBody>
          <a:bodyPr>
            <a:noAutofit/>
          </a:bodyPr>
          <a:lstStyle/>
          <a:p>
            <a:pPr marL="0" indent="0">
              <a:buNone/>
            </a:pPr>
            <a:r>
              <a:rPr lang="en-IN" sz="2000" dirty="0"/>
              <a:t>     # Fetch comments from the video </a:t>
            </a:r>
          </a:p>
          <a:p>
            <a:pPr marL="0" indent="0">
              <a:buNone/>
            </a:pPr>
            <a:r>
              <a:rPr lang="en-IN" sz="2000" dirty="0"/>
              <a:t>    </a:t>
            </a:r>
            <a:r>
              <a:rPr lang="en-IN" sz="2000" dirty="0" err="1"/>
              <a:t>Comments_data</a:t>
            </a:r>
            <a:r>
              <a:rPr lang="en-IN" sz="2000" dirty="0"/>
              <a:t> = </a:t>
            </a:r>
            <a:r>
              <a:rPr lang="en-IN" sz="2000" dirty="0" err="1"/>
              <a:t>fetch_comments</a:t>
            </a:r>
            <a:r>
              <a:rPr lang="en-IN" sz="2000" dirty="0"/>
              <a:t>(</a:t>
            </a:r>
            <a:r>
              <a:rPr lang="en-IN" sz="2000" dirty="0" err="1"/>
              <a:t>video_id</a:t>
            </a:r>
            <a:r>
              <a:rPr lang="en-IN" sz="2000" dirty="0"/>
              <a:t>) </a:t>
            </a:r>
          </a:p>
          <a:p>
            <a:pPr marL="0" indent="0">
              <a:buNone/>
            </a:pPr>
            <a:r>
              <a:rPr lang="en-IN" sz="2000" dirty="0"/>
              <a:t>    # Process and classify the comments </a:t>
            </a:r>
          </a:p>
          <a:p>
            <a:pPr marL="0" indent="0">
              <a:buNone/>
            </a:pPr>
            <a:r>
              <a:rPr lang="en-IN" sz="2000" dirty="0"/>
              <a:t>    For comment in </a:t>
            </a:r>
            <a:r>
              <a:rPr lang="en-IN" sz="2000" dirty="0" err="1"/>
              <a:t>comments_data</a:t>
            </a:r>
            <a:r>
              <a:rPr lang="en-IN" sz="2000" dirty="0"/>
              <a:t>: </a:t>
            </a:r>
          </a:p>
          <a:p>
            <a:pPr marL="0" indent="0">
              <a:buNone/>
            </a:pPr>
            <a:r>
              <a:rPr lang="en-IN" sz="2000" dirty="0"/>
              <a:t>        Data=comment[‘text’] </a:t>
            </a:r>
          </a:p>
          <a:p>
            <a:pPr marL="0" indent="0">
              <a:buNone/>
            </a:pPr>
            <a:r>
              <a:rPr lang="en-IN" sz="2000" dirty="0"/>
              <a:t>        </a:t>
            </a:r>
            <a:r>
              <a:rPr lang="en-IN" sz="2000" dirty="0" err="1"/>
              <a:t>Sentiment,polarity,subjectivity</a:t>
            </a:r>
            <a:r>
              <a:rPr lang="en-IN" sz="2000" dirty="0"/>
              <a:t> = </a:t>
            </a:r>
            <a:r>
              <a:rPr lang="en-IN" sz="2000" dirty="0" err="1"/>
              <a:t>classify_sentiment</a:t>
            </a:r>
            <a:r>
              <a:rPr lang="en-IN" sz="2000" dirty="0"/>
              <a:t>(data) </a:t>
            </a:r>
          </a:p>
          <a:p>
            <a:pPr marL="0" indent="0">
              <a:buNone/>
            </a:pPr>
            <a:r>
              <a:rPr lang="en-IN" sz="2000" dirty="0"/>
              <a:t>        Comment[‘sentiment’] = sentiment </a:t>
            </a:r>
          </a:p>
          <a:p>
            <a:pPr marL="0" indent="0">
              <a:buNone/>
            </a:pPr>
            <a:r>
              <a:rPr lang="en-IN" sz="2000" dirty="0"/>
              <a:t>        Comment[‘polarity’] = polarity </a:t>
            </a:r>
          </a:p>
          <a:p>
            <a:pPr marL="0" indent="0">
              <a:buNone/>
            </a:pPr>
            <a:r>
              <a:rPr lang="en-IN" sz="2000" dirty="0"/>
              <a:t>        Comment[‘subjectivity’]=subjectivity </a:t>
            </a:r>
          </a:p>
          <a:p>
            <a:pPr marL="0" indent="0">
              <a:buNone/>
            </a:pPr>
            <a:r>
              <a:rPr lang="en-IN" sz="2000" dirty="0"/>
              <a:t>     Return </a:t>
            </a:r>
            <a:r>
              <a:rPr lang="en-IN" sz="2000" dirty="0" err="1"/>
              <a:t>render_template</a:t>
            </a:r>
            <a:r>
              <a:rPr lang="en-IN" sz="2000" dirty="0"/>
              <a:t>(‘index.html’, comments=</a:t>
            </a:r>
            <a:r>
              <a:rPr lang="en-IN" sz="2000" dirty="0" err="1"/>
              <a:t>comments_data</a:t>
            </a:r>
            <a:r>
              <a:rPr lang="en-IN" sz="2000" dirty="0"/>
              <a:t>, </a:t>
            </a:r>
          </a:p>
          <a:p>
            <a:pPr marL="0" indent="0">
              <a:buNone/>
            </a:pPr>
            <a:r>
              <a:rPr lang="en-IN" sz="2000" dirty="0" err="1"/>
              <a:t>video_id</a:t>
            </a:r>
            <a:r>
              <a:rPr lang="en-IN" sz="2000" dirty="0"/>
              <a:t>=</a:t>
            </a:r>
            <a:r>
              <a:rPr lang="en-IN" sz="2000" dirty="0" err="1"/>
              <a:t>video_id</a:t>
            </a:r>
            <a:r>
              <a:rPr lang="en-IN" sz="2000" dirty="0"/>
              <a:t>) </a:t>
            </a:r>
          </a:p>
          <a:p>
            <a:pPr marL="0" indent="0">
              <a:buNone/>
            </a:pPr>
            <a:r>
              <a:rPr lang="en-IN" sz="2000" dirty="0"/>
              <a:t>If __name__ == ‘__main__’: </a:t>
            </a:r>
          </a:p>
          <a:p>
            <a:pPr marL="0" indent="0">
              <a:buNone/>
            </a:pPr>
            <a:r>
              <a:rPr lang="en-IN" sz="2000" dirty="0"/>
              <a:t>      </a:t>
            </a:r>
            <a:r>
              <a:rPr lang="en-IN" sz="2000" dirty="0" err="1"/>
              <a:t>App.run</a:t>
            </a:r>
            <a:r>
              <a:rPr lang="en-IN" sz="2000" dirty="0"/>
              <a:t>(debug=True) </a:t>
            </a:r>
          </a:p>
        </p:txBody>
      </p:sp>
    </p:spTree>
    <p:extLst>
      <p:ext uri="{BB962C8B-B14F-4D97-AF65-F5344CB8AC3E}">
        <p14:creationId xmlns:p14="http://schemas.microsoft.com/office/powerpoint/2010/main" val="4075564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193183" y="0"/>
            <a:ext cx="14630400" cy="8542116"/>
          </a:xfrm>
          <a:prstGeom prst="rect">
            <a:avLst/>
          </a:prstGeom>
          <a:solidFill>
            <a:srgbClr val="F9F6F0"/>
          </a:solidFill>
        </p:spPr>
      </p:sp>
      <p:sp>
        <p:nvSpPr>
          <p:cNvPr id="5" name="Text 2"/>
          <p:cNvSpPr/>
          <p:nvPr/>
        </p:nvSpPr>
        <p:spPr>
          <a:xfrm>
            <a:off x="166814" y="352009"/>
            <a:ext cx="12520851" cy="733425"/>
          </a:xfrm>
          <a:prstGeom prst="rect">
            <a:avLst/>
          </a:prstGeom>
          <a:noFill/>
        </p:spPr>
        <p:txBody>
          <a:bodyPr wrap="none" rtlCol="0" anchor="t"/>
          <a:lstStyle/>
          <a:p>
            <a:pPr marL="0" indent="0">
              <a:lnSpc>
                <a:spcPts val="5470"/>
              </a:lnSpc>
              <a:buNone/>
            </a:pPr>
            <a:r>
              <a:rPr lang="en-US" sz="5000" b="1" dirty="0">
                <a:solidFill>
                  <a:srgbClr val="484237"/>
                </a:solidFill>
                <a:latin typeface="Arial" panose="020B0604020202020204" pitchFamily="34" charset="0"/>
                <a:ea typeface="Gelasio" pitchFamily="34" charset="-122"/>
                <a:cs typeface="Arial" panose="020B0604020202020204" pitchFamily="34" charset="0"/>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OUTPUT</a:t>
            </a:r>
            <a:endParaRPr lang="en-US" sz="4400" dirty="0">
              <a:latin typeface="Arial" panose="020B0604020202020204" pitchFamily="34" charset="0"/>
              <a:cs typeface="Arial" panose="020B0604020202020204" pitchFamily="34" charset="0"/>
            </a:endParaRPr>
          </a:p>
        </p:txBody>
      </p:sp>
      <p:sp>
        <p:nvSpPr>
          <p:cNvPr id="6" name="Text 3"/>
          <p:cNvSpPr/>
          <p:nvPr/>
        </p:nvSpPr>
        <p:spPr>
          <a:xfrm>
            <a:off x="833199" y="2904292"/>
            <a:ext cx="7477601" cy="1777008"/>
          </a:xfrm>
          <a:prstGeom prst="rect">
            <a:avLst/>
          </a:prstGeom>
          <a:noFill/>
        </p:spPr>
        <p:txBody>
          <a:bodyPr wrap="square" rtlCol="0" anchor="t"/>
          <a:lstStyle/>
          <a:p>
            <a:pPr marL="0" indent="0">
              <a:lnSpc>
                <a:spcPts val="2800"/>
              </a:lnSpc>
              <a:buNone/>
            </a:pPr>
            <a:endParaRPr lang="en-US" sz="1750" dirty="0"/>
          </a:p>
        </p:txBody>
      </p:sp>
      <p:sp>
        <p:nvSpPr>
          <p:cNvPr id="7" name="Text 4"/>
          <p:cNvSpPr/>
          <p:nvPr/>
        </p:nvSpPr>
        <p:spPr>
          <a:xfrm>
            <a:off x="833199" y="4931212"/>
            <a:ext cx="7477601" cy="1421606"/>
          </a:xfrm>
          <a:prstGeom prst="rect">
            <a:avLst/>
          </a:prstGeom>
          <a:noFill/>
        </p:spPr>
        <p:txBody>
          <a:bodyPr wrap="square" rtlCol="0" anchor="t"/>
          <a:lstStyle/>
          <a:p>
            <a:pPr marL="0" indent="0">
              <a:lnSpc>
                <a:spcPts val="2800"/>
              </a:lnSpc>
              <a:buNone/>
            </a:pPr>
            <a:endParaRPr lang="en-US" sz="1750" dirty="0"/>
          </a:p>
        </p:txBody>
      </p:sp>
      <p:pic>
        <p:nvPicPr>
          <p:cNvPr id="8" name="Picture 7"/>
          <p:cNvPicPr>
            <a:picLocks noChangeAspect="1"/>
          </p:cNvPicPr>
          <p:nvPr/>
        </p:nvPicPr>
        <p:blipFill rotWithShape="1">
          <a:blip r:embed="rId3"/>
          <a:srcRect l="1231" t="4781" r="10861"/>
          <a:stretch>
            <a:fillRect/>
          </a:stretch>
        </p:blipFill>
        <p:spPr>
          <a:xfrm>
            <a:off x="166815" y="2817697"/>
            <a:ext cx="6599618" cy="2113515"/>
          </a:xfrm>
          <a:prstGeom prst="rect">
            <a:avLst/>
          </a:prstGeom>
        </p:spPr>
      </p:pic>
      <p:pic>
        <p:nvPicPr>
          <p:cNvPr id="11" name="Picture 10"/>
          <p:cNvPicPr>
            <a:picLocks noChangeAspect="1"/>
          </p:cNvPicPr>
          <p:nvPr/>
        </p:nvPicPr>
        <p:blipFill rotWithShape="1">
          <a:blip r:embed="rId4"/>
          <a:srcRect l="1379" t="2297" r="1947"/>
          <a:stretch>
            <a:fillRect/>
          </a:stretch>
        </p:blipFill>
        <p:spPr>
          <a:xfrm>
            <a:off x="6959616" y="1703627"/>
            <a:ext cx="7477601" cy="58730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69211"/>
            <a:ext cx="14630400" cy="8898811"/>
          </a:xfrm>
          <a:prstGeom prst="rect">
            <a:avLst/>
          </a:prstGeom>
          <a:solidFill>
            <a:srgbClr val="DDCFBB"/>
          </a:solidFill>
        </p:spPr>
      </p:sp>
      <p:sp>
        <p:nvSpPr>
          <p:cNvPr id="3" name="Shape 1"/>
          <p:cNvSpPr/>
          <p:nvPr/>
        </p:nvSpPr>
        <p:spPr>
          <a:xfrm>
            <a:off x="0" y="-669211"/>
            <a:ext cx="14630400" cy="8898810"/>
          </a:xfrm>
          <a:prstGeom prst="rect">
            <a:avLst/>
          </a:prstGeom>
          <a:solidFill>
            <a:srgbClr val="F9F6F0"/>
          </a:solidFill>
        </p:spPr>
      </p:sp>
      <p:sp>
        <p:nvSpPr>
          <p:cNvPr id="5" name="Text 2"/>
          <p:cNvSpPr/>
          <p:nvPr/>
        </p:nvSpPr>
        <p:spPr>
          <a:xfrm>
            <a:off x="967013" y="975511"/>
            <a:ext cx="12520851" cy="733425"/>
          </a:xfrm>
          <a:prstGeom prst="rect">
            <a:avLst/>
          </a:prstGeom>
          <a:noFill/>
        </p:spPr>
        <p:txBody>
          <a:bodyPr wrap="none" rtlCol="0" anchor="t"/>
          <a:lstStyle/>
          <a:p>
            <a:pPr marL="0" indent="0">
              <a:lnSpc>
                <a:spcPts val="5470"/>
              </a:lnSpc>
              <a:buNone/>
            </a:pPr>
            <a:r>
              <a:rPr lang="en-US" sz="5000" b="1" dirty="0">
                <a:solidFill>
                  <a:srgbClr val="484237"/>
                </a:solidFill>
                <a:latin typeface="Gelasio" pitchFamily="34" charset="0"/>
                <a:ea typeface="Gelasio" pitchFamily="34" charset="-122"/>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REFERENCES</a:t>
            </a:r>
            <a:endParaRPr lang="en-US" sz="4400" dirty="0">
              <a:latin typeface="Arial" panose="020B0604020202020204" pitchFamily="34" charset="0"/>
              <a:cs typeface="Arial" panose="020B0604020202020204" pitchFamily="34" charset="0"/>
            </a:endParaRPr>
          </a:p>
        </p:txBody>
      </p:sp>
      <p:sp>
        <p:nvSpPr>
          <p:cNvPr id="6" name="Text 3"/>
          <p:cNvSpPr/>
          <p:nvPr/>
        </p:nvSpPr>
        <p:spPr>
          <a:xfrm>
            <a:off x="833199" y="2904292"/>
            <a:ext cx="7477601" cy="1777008"/>
          </a:xfrm>
          <a:prstGeom prst="rect">
            <a:avLst/>
          </a:prstGeom>
          <a:noFill/>
        </p:spPr>
        <p:txBody>
          <a:bodyPr wrap="square" rtlCol="0" anchor="t"/>
          <a:lstStyle/>
          <a:p>
            <a:pPr marL="0" indent="0">
              <a:lnSpc>
                <a:spcPts val="2800"/>
              </a:lnSpc>
              <a:buNone/>
            </a:pPr>
            <a:endParaRPr lang="en-US" sz="1750" dirty="0"/>
          </a:p>
        </p:txBody>
      </p:sp>
      <p:sp>
        <p:nvSpPr>
          <p:cNvPr id="7" name="Text 4"/>
          <p:cNvSpPr/>
          <p:nvPr/>
        </p:nvSpPr>
        <p:spPr>
          <a:xfrm>
            <a:off x="833199" y="4931212"/>
            <a:ext cx="7477601" cy="1421606"/>
          </a:xfrm>
          <a:prstGeom prst="rect">
            <a:avLst/>
          </a:prstGeom>
          <a:noFill/>
        </p:spPr>
        <p:txBody>
          <a:bodyPr wrap="square" rtlCol="0" anchor="t"/>
          <a:lstStyle/>
          <a:p>
            <a:pPr marL="0" indent="0">
              <a:lnSpc>
                <a:spcPts val="2800"/>
              </a:lnSpc>
              <a:buNone/>
            </a:pPr>
            <a:endParaRPr lang="en-US" sz="1750" dirty="0"/>
          </a:p>
        </p:txBody>
      </p:sp>
      <p:sp>
        <p:nvSpPr>
          <p:cNvPr id="4" name="TextBox 3"/>
          <p:cNvSpPr txBox="1"/>
          <p:nvPr/>
        </p:nvSpPr>
        <p:spPr>
          <a:xfrm>
            <a:off x="967013" y="2120279"/>
            <a:ext cx="12882801" cy="3989041"/>
          </a:xfrm>
          <a:prstGeom prst="rect">
            <a:avLst/>
          </a:prstGeom>
          <a:noFill/>
        </p:spPr>
        <p:txBody>
          <a:bodyPr wrap="square" rtlCol="0">
            <a:spAutoFit/>
          </a:bodyPr>
          <a:lstStyle/>
          <a:p>
            <a:pPr algn="just">
              <a:lnSpc>
                <a:spcPct val="150000"/>
              </a:lnSpc>
              <a:spcAft>
                <a:spcPts val="1000"/>
              </a:spcAft>
            </a:pP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b="1" dirty="0">
                <a:effectLst/>
                <a:latin typeface="Arial" panose="020B0604020202020204" pitchFamily="34" charset="0"/>
                <a:ea typeface="Calibri" panose="020F0502020204030204" pitchFamily="34" charset="0"/>
                <a:cs typeface="Arial" panose="020B0604020202020204" pitchFamily="34" charset="0"/>
              </a:rPr>
              <a:t>Resources Used</a:t>
            </a:r>
          </a:p>
          <a:p>
            <a:pPr algn="just">
              <a:lnSpc>
                <a:spcPct val="150000"/>
              </a:lnSpc>
              <a:spcAft>
                <a:spcPts val="1000"/>
              </a:spcAft>
            </a:pP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b="1" dirty="0">
                <a:effectLst/>
                <a:latin typeface="Arial" panose="020B0604020202020204" pitchFamily="34" charset="0"/>
                <a:ea typeface="Calibri" panose="020F0502020204030204" pitchFamily="34" charset="0"/>
                <a:cs typeface="Arial" panose="020B0604020202020204" pitchFamily="34" charset="0"/>
              </a:rPr>
              <a:t>HTML and CSS:W3 Schools</a:t>
            </a:r>
          </a:p>
          <a:p>
            <a:pPr algn="just">
              <a:lnSpc>
                <a:spcPct val="150000"/>
              </a:lnSpc>
              <a:spcAft>
                <a:spcPts val="1000"/>
              </a:spcAft>
            </a:pPr>
            <a:r>
              <a:rPr lang="en-US" sz="2400" dirty="0">
                <a:effectLst/>
                <a:latin typeface="Arial" panose="020B0604020202020204" pitchFamily="34" charset="0"/>
                <a:ea typeface="Calibri" panose="020F0502020204030204" pitchFamily="34" charset="0"/>
                <a:cs typeface="Arial" panose="020B0604020202020204" pitchFamily="34" charset="0"/>
              </a:rPr>
              <a:t>              HTML Site-https://www.w3schools.com/html/default.asp</a:t>
            </a:r>
          </a:p>
          <a:p>
            <a:pPr algn="just">
              <a:lnSpc>
                <a:spcPct val="150000"/>
              </a:lnSpc>
              <a:spcAft>
                <a:spcPts val="1000"/>
              </a:spcAft>
            </a:pPr>
            <a:r>
              <a:rPr lang="en-US" sz="2400" dirty="0">
                <a:effectLst/>
                <a:latin typeface="Arial" panose="020B0604020202020204" pitchFamily="34" charset="0"/>
                <a:ea typeface="Calibri" panose="020F0502020204030204" pitchFamily="34" charset="0"/>
                <a:cs typeface="Arial" panose="020B0604020202020204" pitchFamily="34" charset="0"/>
              </a:rPr>
              <a:t>              CSS Site-https://www.w3schools.com/css/default.asp</a:t>
            </a:r>
          </a:p>
          <a:p>
            <a:pPr algn="just">
              <a:lnSpc>
                <a:spcPct val="150000"/>
              </a:lnSpc>
              <a:spcAft>
                <a:spcPts val="1000"/>
              </a:spcAft>
            </a:pP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b="1" dirty="0" err="1">
                <a:effectLst/>
                <a:latin typeface="Arial" panose="020B0604020202020204" pitchFamily="34" charset="0"/>
                <a:ea typeface="Calibri" panose="020F0502020204030204" pitchFamily="34" charset="0"/>
                <a:cs typeface="Arial" panose="020B0604020202020204" pitchFamily="34" charset="0"/>
              </a:rPr>
              <a:t>NLP:Coursera</a:t>
            </a:r>
            <a:endParaRPr lang="en-US" sz="2400" b="1"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1000"/>
              </a:spcAft>
            </a:pPr>
            <a:r>
              <a:rPr lang="en-US" sz="2400" dirty="0">
                <a:effectLst/>
                <a:latin typeface="Arial" panose="020B0604020202020204" pitchFamily="34" charset="0"/>
                <a:ea typeface="Calibri" panose="020F0502020204030204" pitchFamily="34" charset="0"/>
                <a:cs typeface="Arial" panose="020B0604020202020204" pitchFamily="34" charset="0"/>
              </a:rPr>
              <a:t>             https://www.coursera.org/articles/natural-language-processing</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71484" y="-156258"/>
            <a:ext cx="14630400" cy="8542116"/>
          </a:xfrm>
          <a:prstGeom prst="rect">
            <a:avLst/>
          </a:prstGeom>
          <a:solidFill>
            <a:srgbClr val="F9F6F0"/>
          </a:solidFill>
          <a:ln/>
        </p:spPr>
      </p:sp>
      <p:sp>
        <p:nvSpPr>
          <p:cNvPr id="5" name="Text 2"/>
          <p:cNvSpPr/>
          <p:nvPr/>
        </p:nvSpPr>
        <p:spPr>
          <a:xfrm>
            <a:off x="385716" y="733842"/>
            <a:ext cx="12520851" cy="733425"/>
          </a:xfrm>
          <a:prstGeom prst="rect">
            <a:avLst/>
          </a:prstGeom>
          <a:noFill/>
          <a:ln/>
        </p:spPr>
        <p:txBody>
          <a:bodyPr wrap="none" rtlCol="0" anchor="t"/>
          <a:lstStyle/>
          <a:p>
            <a:pPr marL="0" indent="0">
              <a:lnSpc>
                <a:spcPts val="5468"/>
              </a:lnSpc>
              <a:buNone/>
            </a:pPr>
            <a:r>
              <a:rPr lang="en-US" sz="5000" b="1" dirty="0">
                <a:solidFill>
                  <a:srgbClr val="484237"/>
                </a:solidFill>
                <a:latin typeface="Arial" panose="020B0604020202020204" pitchFamily="34" charset="0"/>
                <a:ea typeface="Gelasio" pitchFamily="34" charset="-122"/>
                <a:cs typeface="Arial" panose="020B0604020202020204" pitchFamily="34" charset="0"/>
              </a:rPr>
              <a:t>    </a:t>
            </a:r>
            <a:r>
              <a:rPr lang="en-US" sz="4400" b="1" dirty="0">
                <a:solidFill>
                  <a:srgbClr val="484237"/>
                </a:solidFill>
                <a:latin typeface="Arial" panose="020B0604020202020204" pitchFamily="34" charset="0"/>
                <a:ea typeface="Gelasio" pitchFamily="34" charset="-122"/>
                <a:cs typeface="Arial" panose="020B0604020202020204" pitchFamily="34" charset="0"/>
              </a:rPr>
              <a:t>CONCLUSION</a:t>
            </a:r>
            <a:endParaRPr lang="en-US" sz="4400" dirty="0">
              <a:latin typeface="Arial" panose="020B0604020202020204" pitchFamily="34" charset="0"/>
              <a:cs typeface="Arial" panose="020B0604020202020204" pitchFamily="34" charset="0"/>
            </a:endParaRPr>
          </a:p>
        </p:txBody>
      </p:sp>
      <p:sp>
        <p:nvSpPr>
          <p:cNvPr id="6" name="Text 3"/>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1" name="Content Placeholder 10">
            <a:extLst>
              <a:ext uri="{FF2B5EF4-FFF2-40B4-BE49-F238E27FC236}">
                <a16:creationId xmlns:a16="http://schemas.microsoft.com/office/drawing/2014/main" id="{738CCCAA-661A-47DB-A603-B4CF7B891E74}"/>
              </a:ext>
            </a:extLst>
          </p:cNvPr>
          <p:cNvSpPr>
            <a:spLocks noGrp="1"/>
          </p:cNvSpPr>
          <p:nvPr>
            <p:ph idx="1"/>
          </p:nvPr>
        </p:nvSpPr>
        <p:spPr>
          <a:xfrm>
            <a:off x="1005840" y="1876782"/>
            <a:ext cx="12791361" cy="6318094"/>
          </a:xfrm>
        </p:spPr>
        <p:txBody>
          <a:bodyPr>
            <a:normAutofit/>
          </a:bodyPr>
          <a:lstStyle/>
          <a:p>
            <a:pPr marL="0" indent="0">
              <a:lnSpc>
                <a:spcPct val="150000"/>
              </a:lnSpc>
              <a:buNone/>
            </a:pPr>
            <a:r>
              <a:rPr lang="en-US" sz="2400" dirty="0">
                <a:latin typeface="Arial" panose="020B0604020202020204" pitchFamily="34" charset="0"/>
                <a:cs typeface="Arial" panose="020B0604020202020204" pitchFamily="34" charset="0"/>
              </a:rPr>
              <a:t>The toxic comments classification project successfully developed a robust model capable of identifying and categorizing harmful content. By leveraging advanced natural language processing techniques, the model demonstrated high accuracy in detecting toxicity across various categories such as hate speech, abuse, and threats. This achievement highlights its potential for enhancing online moderation systems and fostering healthier digital environments. However, challenges such as contextual nuances and bias in training data were encountered, emphasizing the need for continuous improvement. Overall, the project underscores the critical role of AI in addressing online toxicity while advocating for ethical implementation and ongoing refinement for real-world applications.</a:t>
            </a:r>
          </a:p>
        </p:txBody>
      </p:sp>
    </p:spTree>
    <p:extLst>
      <p:ext uri="{BB962C8B-B14F-4D97-AF65-F5344CB8AC3E}">
        <p14:creationId xmlns:p14="http://schemas.microsoft.com/office/powerpoint/2010/main" val="2154691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F5EE3-F2B9-4147-5775-F145718B3F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21E345-B707-FD3B-6374-290383EB6498}"/>
              </a:ext>
            </a:extLst>
          </p:cNvPr>
          <p:cNvSpPr/>
          <p:nvPr/>
        </p:nvSpPr>
        <p:spPr>
          <a:xfrm>
            <a:off x="0" y="0"/>
            <a:ext cx="14630400" cy="8229600"/>
          </a:xfrm>
          <a:prstGeom prst="rect">
            <a:avLst/>
          </a:prstGeom>
          <a:solidFill>
            <a:srgbClr val="DDCFBB"/>
          </a:solidFill>
          <a:ln/>
        </p:spPr>
      </p:sp>
      <p:sp>
        <p:nvSpPr>
          <p:cNvPr id="3" name="Shape 1">
            <a:extLst>
              <a:ext uri="{FF2B5EF4-FFF2-40B4-BE49-F238E27FC236}">
                <a16:creationId xmlns:a16="http://schemas.microsoft.com/office/drawing/2014/main" id="{597E5A4C-6664-A02E-F7CA-CAACC3AEF4A5}"/>
              </a:ext>
            </a:extLst>
          </p:cNvPr>
          <p:cNvSpPr/>
          <p:nvPr/>
        </p:nvSpPr>
        <p:spPr>
          <a:xfrm>
            <a:off x="0" y="-156258"/>
            <a:ext cx="14630400" cy="8542116"/>
          </a:xfrm>
          <a:prstGeom prst="rect">
            <a:avLst/>
          </a:prstGeom>
          <a:solidFill>
            <a:srgbClr val="F9F6F0"/>
          </a:solidFill>
          <a:ln/>
        </p:spPr>
      </p:sp>
      <p:sp>
        <p:nvSpPr>
          <p:cNvPr id="5" name="Text 2">
            <a:extLst>
              <a:ext uri="{FF2B5EF4-FFF2-40B4-BE49-F238E27FC236}">
                <a16:creationId xmlns:a16="http://schemas.microsoft.com/office/drawing/2014/main" id="{D5EDD59B-A302-1AC9-C1FF-2AF5C0D08CC4}"/>
              </a:ext>
            </a:extLst>
          </p:cNvPr>
          <p:cNvSpPr/>
          <p:nvPr/>
        </p:nvSpPr>
        <p:spPr>
          <a:xfrm>
            <a:off x="385716" y="733842"/>
            <a:ext cx="12520851" cy="733425"/>
          </a:xfrm>
          <a:prstGeom prst="rect">
            <a:avLst/>
          </a:prstGeom>
          <a:noFill/>
          <a:ln/>
        </p:spPr>
        <p:txBody>
          <a:bodyPr wrap="none" rtlCol="0" anchor="t"/>
          <a:lstStyle/>
          <a:p>
            <a:pPr>
              <a:lnSpc>
                <a:spcPts val="5468"/>
              </a:lnSpc>
            </a:pPr>
            <a:r>
              <a:rPr lang="en-US" sz="5000" b="1" dirty="0">
                <a:solidFill>
                  <a:srgbClr val="484237"/>
                </a:solidFill>
                <a:latin typeface="Gelasio" pitchFamily="34" charset="0"/>
                <a:ea typeface="Gelasio" pitchFamily="34" charset="-122"/>
              </a:rPr>
              <a:t>    </a:t>
            </a:r>
            <a:r>
              <a:rPr lang="en-IN" sz="4400" b="1" dirty="0">
                <a:latin typeface="Arial" panose="020B0604020202020204" pitchFamily="34" charset="0"/>
                <a:cs typeface="Arial" panose="020B0604020202020204" pitchFamily="34" charset="0"/>
              </a:rPr>
              <a:t>FUTURE SCOPE</a:t>
            </a:r>
            <a:endParaRPr lang="en-US" sz="44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DEE305CE-7C80-9D99-AD5B-DE428E69D6EB}"/>
              </a:ext>
            </a:extLst>
          </p:cNvPr>
          <p:cNvSpPr/>
          <p:nvPr/>
        </p:nvSpPr>
        <p:spPr>
          <a:xfrm>
            <a:off x="833199" y="2904292"/>
            <a:ext cx="7477601" cy="1777008"/>
          </a:xfrm>
          <a:prstGeom prst="rect">
            <a:avLst/>
          </a:prstGeom>
          <a:noFill/>
          <a:ln/>
        </p:spPr>
        <p:txBody>
          <a:bodyPr wrap="square" rtlCol="0" anchor="t"/>
          <a:lstStyle/>
          <a:p>
            <a:pPr marL="0" indent="0">
              <a:lnSpc>
                <a:spcPts val="2799"/>
              </a:lnSpc>
              <a:buNone/>
            </a:pPr>
            <a:endParaRPr lang="en-US" sz="1750" dirty="0"/>
          </a:p>
        </p:txBody>
      </p:sp>
      <p:sp>
        <p:nvSpPr>
          <p:cNvPr id="7" name="Text 4">
            <a:extLst>
              <a:ext uri="{FF2B5EF4-FFF2-40B4-BE49-F238E27FC236}">
                <a16:creationId xmlns:a16="http://schemas.microsoft.com/office/drawing/2014/main" id="{CF305DB7-DC8A-A34A-E34E-EF27AEFB026F}"/>
              </a:ext>
            </a:extLst>
          </p:cNvPr>
          <p:cNvSpPr/>
          <p:nvPr/>
        </p:nvSpPr>
        <p:spPr>
          <a:xfrm>
            <a:off x="833199" y="4931212"/>
            <a:ext cx="7477601" cy="1421606"/>
          </a:xfrm>
          <a:prstGeom prst="rect">
            <a:avLst/>
          </a:prstGeom>
          <a:noFill/>
          <a:ln/>
        </p:spPr>
        <p:txBody>
          <a:bodyPr wrap="square" rtlCol="0" anchor="t"/>
          <a:lstStyle/>
          <a:p>
            <a:pPr marL="0" indent="0">
              <a:lnSpc>
                <a:spcPts val="2799"/>
              </a:lnSpc>
              <a:buNone/>
            </a:pPr>
            <a:endParaRPr lang="en-US" sz="1750" dirty="0"/>
          </a:p>
        </p:txBody>
      </p:sp>
      <p:sp>
        <p:nvSpPr>
          <p:cNvPr id="11" name="Content Placeholder 10">
            <a:extLst>
              <a:ext uri="{FF2B5EF4-FFF2-40B4-BE49-F238E27FC236}">
                <a16:creationId xmlns:a16="http://schemas.microsoft.com/office/drawing/2014/main" id="{240FEEE6-7CCA-35C4-901A-77FF16C93E34}"/>
              </a:ext>
            </a:extLst>
          </p:cNvPr>
          <p:cNvSpPr>
            <a:spLocks noGrp="1"/>
          </p:cNvSpPr>
          <p:nvPr>
            <p:ph idx="1"/>
          </p:nvPr>
        </p:nvSpPr>
        <p:spPr>
          <a:xfrm>
            <a:off x="1005840" y="1876782"/>
            <a:ext cx="12791361" cy="6318094"/>
          </a:xfrm>
        </p:spPr>
        <p:txBody>
          <a:bodyPr>
            <a:normAutofit/>
          </a:bodyPr>
          <a:lstStyle/>
          <a:p>
            <a:pPr marL="0" indent="0">
              <a:lnSpc>
                <a:spcPct val="150000"/>
              </a:lnSpc>
              <a:buNone/>
            </a:pPr>
            <a:r>
              <a:rPr lang="en-US" sz="2400" dirty="0">
                <a:latin typeface="Arial" panose="020B0604020202020204" pitchFamily="34" charset="0"/>
                <a:cs typeface="Arial" panose="020B0604020202020204" pitchFamily="34" charset="0"/>
              </a:rPr>
              <a:t>Future improvements for the toxic comment classification project can focus on enhancing accuracy, fairness, and adaptability. Using diverse datasets will reduce bias and improve detection across languages and cultures. Fine-tuning the model for sarcasm, context, and nuanced language will increase reliability.</a:t>
            </a:r>
          </a:p>
          <a:p>
            <a:pPr marL="0" indent="0">
              <a:lnSpc>
                <a:spcPct val="150000"/>
              </a:lnSpc>
              <a:buNone/>
            </a:pPr>
            <a:r>
              <a:rPr lang="en-US" sz="2400" dirty="0">
                <a:latin typeface="Arial" panose="020B0604020202020204" pitchFamily="34" charset="0"/>
                <a:cs typeface="Arial" panose="020B0604020202020204" pitchFamily="34" charset="0"/>
              </a:rPr>
              <a:t>Advanced models like BERT or GPT can boost performance, while real-time detection can support live moderation. Ethical aspects like transparency, privacy, and reducing false positives are also important. Collaboration with experts and user feedback will help the system evolve with changing online behavior.</a:t>
            </a:r>
          </a:p>
          <a:p>
            <a:pPr marL="0" indent="0">
              <a:lnSpc>
                <a:spcPct val="150000"/>
              </a:lnSpc>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9865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7620" y="-347242"/>
            <a:ext cx="14638020" cy="8576841"/>
          </a:xfrm>
          <a:prstGeom prst="rect">
            <a:avLst/>
          </a:prstGeom>
          <a:solidFill>
            <a:srgbClr val="F9F6F0"/>
          </a:solidFill>
          <a:ln/>
        </p:spPr>
      </p:sp>
      <p:sp>
        <p:nvSpPr>
          <p:cNvPr id="5" name="Text 2"/>
          <p:cNvSpPr/>
          <p:nvPr/>
        </p:nvSpPr>
        <p:spPr>
          <a:xfrm>
            <a:off x="1653386" y="3454359"/>
            <a:ext cx="11783206" cy="1190625"/>
          </a:xfrm>
          <a:prstGeom prst="rect">
            <a:avLst/>
          </a:prstGeom>
          <a:noFill/>
          <a:ln/>
        </p:spPr>
        <p:txBody>
          <a:bodyPr wrap="none" rtlCol="0" anchor="t"/>
          <a:lstStyle/>
          <a:p>
            <a:pPr marL="0" indent="0">
              <a:lnSpc>
                <a:spcPts val="7545"/>
              </a:lnSpc>
              <a:buNone/>
            </a:pPr>
            <a:r>
              <a:rPr lang="en-US" sz="6036" b="1" dirty="0">
                <a:solidFill>
                  <a:srgbClr val="484237"/>
                </a:solidFill>
                <a:latin typeface="Gelasio" pitchFamily="34" charset="0"/>
                <a:ea typeface="Gelasio" pitchFamily="34" charset="-122"/>
                <a:cs typeface="Gelasio" pitchFamily="34" charset="-120"/>
              </a:rPr>
              <a:t>         </a:t>
            </a:r>
            <a:r>
              <a:rPr lang="en-US" sz="12000" b="1" dirty="0">
                <a:solidFill>
                  <a:srgbClr val="484237"/>
                </a:solidFill>
                <a:latin typeface="Arial" panose="020B0604020202020204" pitchFamily="34" charset="0"/>
                <a:ea typeface="Gelasio" pitchFamily="34" charset="-122"/>
                <a:cs typeface="Arial" panose="020B0604020202020204" pitchFamily="34" charset="0"/>
              </a:rPr>
              <a:t>Thank You</a:t>
            </a:r>
            <a:endParaRPr lang="en-US" sz="12000" dirty="0">
              <a:latin typeface="Arial" panose="020B0604020202020204" pitchFamily="34" charset="0"/>
              <a:cs typeface="Arial" panose="020B0604020202020204" pitchFamily="34" charset="0"/>
            </a:endParaRPr>
          </a:p>
        </p:txBody>
      </p:sp>
      <p:sp>
        <p:nvSpPr>
          <p:cNvPr id="6" name="Text 3"/>
          <p:cNvSpPr/>
          <p:nvPr/>
        </p:nvSpPr>
        <p:spPr>
          <a:xfrm>
            <a:off x="833199" y="4049673"/>
            <a:ext cx="7477601" cy="1421606"/>
          </a:xfrm>
          <a:prstGeom prst="rect">
            <a:avLst/>
          </a:prstGeom>
          <a:noFill/>
          <a:ln/>
        </p:spPr>
        <p:txBody>
          <a:bodyPr wrap="square" rtlCol="0" anchor="t"/>
          <a:lstStyle/>
          <a:p>
            <a:pPr marL="0" indent="0">
              <a:lnSpc>
                <a:spcPts val="2799"/>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2211</TotalTime>
  <Words>2485</Words>
  <Application>Microsoft Office PowerPoint</Application>
  <PresentationFormat>Custom</PresentationFormat>
  <Paragraphs>347</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Gelasio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TECHNICAL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 Manasa</cp:lastModifiedBy>
  <cp:revision>136</cp:revision>
  <dcterms:created xsi:type="dcterms:W3CDTF">2024-06-03T13:58:47Z</dcterms:created>
  <dcterms:modified xsi:type="dcterms:W3CDTF">2025-05-21T13:07:25Z</dcterms:modified>
</cp:coreProperties>
</file>